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3237340-f01e-ab86-972f-52774e587090}">
          <p14:sldIdLst>
            <p14:sldId id="256"/>
            <p14:sldId id="257"/>
            <p14:sldId id="258"/>
            <p14:sldId id="259"/>
          </p14:sldIdLst>
        </p14:section>
        <p14:section name="Methodology" id="{a792294c-55fc-95d1-6186-8241da26b6ca}">
          <p14:sldIdLst>
            <p14:sldId id="260"/>
            <p14:sldId id="261"/>
            <p14:sldId id="262"/>
            <p14:sldId id="263"/>
            <p14:sldId id="264"/>
          </p14:sldIdLst>
        </p14:section>
        <p14:section name="Results" id="{402bd743-20e8-9977-7d90-cbda617cbd39}">
          <p14:sldIdLst>
            <p14:sldId id="265"/>
            <p14:sldId id="266"/>
            <p14:sldId id="267"/>
          </p14:sldIdLst>
        </p14:section>
        <p14:section name="Conclusion" id="{a2c78f84-41bd-6287-4834-3651e5b3ba24}">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4"/>
                </a:solidFill>
                <a:latin typeface="+mn-lt"/>
              </a:defRPr>
            </a:pPr>
            <a:r>
              <a:rPr sz="1300" b="0" i="0" u="none" strike="noStrike">
                <a:solidFill>
                  <a:srgbClr val="1B1F24"/>
                </a:solidFill>
                <a:latin typeface="+mn-lt"/>
              </a:rPr>
              <a:t>Kaggle: Fake and Real News Dataset</a:t>
            </a:r>
          </a:p>
        </c:rich>
      </c:tx>
      <c:layout/>
      <c:overlay val="0"/>
    </c:title>
    <c:autoTitleDeleted val="0"/>
    <c:plotArea>
      <c:layout/>
      <c:doughnutChart>
        <c:varyColors val="1"/>
        <c:ser>
          <c:idx val="0"/>
          <c:order val="0"/>
          <c:tx>
            <c:strRef>
              <c:f>Sheet1!$B$1</c:f>
              <c:strCache>
                <c:ptCount val="1"/>
                <c:pt idx="0">
                  <c:v>Articles</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dPt>
          <c:dPt>
            <c:idx val="1"/>
            <c:bubble3D val="0"/>
            <c:spPr>
              <a:solidFill>
                <a:srgbClr val="2E8B57"/>
              </a:solidFill>
              <a:effectLst/>
            </c:spPr>
          </c:dPt>
          <c:dLbls>
            <c:dLbl>
              <c:idx val="0"/>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FAKE</c:v>
                </c:pt>
                <c:pt idx="1">
                  <c:v>REAL</c:v>
                </c:pt>
              </c:strCache>
            </c:strRef>
          </c:cat>
          <c:val>
            <c:numRef>
              <c:f>Sheet1!$B$2:$B$3</c:f>
              <c:numCache>
                <c:ptCount val="2"/>
                <c:pt idx="0">
                  <c:v>23481</c:v>
                </c:pt>
                <c:pt idx="1">
                  <c:v>21417</c:v>
                </c:pt>
              </c:numCache>
            </c:numRef>
          </c:val>
        </c:ser>
        <c:firstSliceAng val="0"/>
        <c:holeSize val="55"/>
      </c:doughnutChart>
      <c:spPr>
        <a:noFill/>
        <a:ln>
          <a:noFill/>
        </a:ln>
        <a:effectLst/>
      </c:spPr>
    </c:plotArea>
    <c:legend>
      <c:legendPos val="b"/>
      <c:overlay val="0"/>
      <c:txPr>
        <a:bodyPr/>
        <a:lstStyle/>
        <a:p>
          <a:pPr>
            <a:defRPr sz="1200">
              <a:solidFill>
                <a:srgbClr val="4A55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5-fold CV accuracy</c:v>
                </c:pt>
              </c:strCache>
            </c:strRef>
          </c:tx>
          <c:spPr>
            <a:solidFill>
              <a:srgbClr val="1F4E79"/>
            </a:solidFill>
            <a:effectLst/>
          </c:spPr>
          <c:invertIfNegative val="0"/>
          <c:dLbls>
            <c:numFmt formatCode="0.0" sourceLinked="0"/>
            <c:txPr>
              <a:bodyPr/>
              <a:lstStyle/>
              <a:p>
                <a:pPr>
                  <a:defRPr b="0" i="0" strike="noStrike" sz="900" u="none">
                    <a:solidFill>
                      <a:srgbClr val="4A5560"/>
                    </a:solidFill>
                    <a:latin typeface="+mn-lt"/>
                  </a:defRPr>
                </a:pPr>
              </a:p>
            </c:txPr>
            <c:showLegendKey val="0"/>
            <c:showVal val="1"/>
            <c:showCatName val="0"/>
            <c:showSerName val="0"/>
            <c:showPercent val="0"/>
            <c:showBubbleSize val="0"/>
            <c:showLeaderLines val="0"/>
          </c:dLbls>
          <c:cat>
            <c:multiLvlStrRef>
              <c:f>Sheet1!$A$2:$A$6</c:f>
              <c:multiLvlStrCache>
                <c:ptCount val="5"/>
                <c:lvl>
                  <c:pt idx="0">
                    <c:v>Logistic Reg.</c:v>
                  </c:pt>
                  <c:pt idx="1">
                    <c:v>Naive Bayes</c:v>
                  </c:pt>
                  <c:pt idx="2">
                    <c:v>Linear SVM</c:v>
                  </c:pt>
                  <c:pt idx="3">
                    <c:v>Random Forest</c:v>
                  </c:pt>
                  <c:pt idx="4">
                    <c:v>Voting Ens.</c:v>
                  </c:pt>
                </c:lvl>
              </c:multiLvlStrCache>
            </c:multiLvlStrRef>
          </c:cat>
          <c:val>
            <c:numRef>
              <c:f>Sheet1!$B$2:$B$6</c:f>
              <c:numCache>
                <c:formatCode>General</c:formatCode>
                <c:ptCount val="5"/>
                <c:pt idx="0">
                  <c:v>88.9</c:v>
                </c:pt>
                <c:pt idx="1">
                  <c:v>79.2</c:v>
                </c:pt>
                <c:pt idx="2">
                  <c:v>85.8</c:v>
                </c:pt>
                <c:pt idx="3">
                  <c:v>73.2</c:v>
                </c:pt>
                <c:pt idx="4">
                  <c:v>88.9</c:v>
                </c:pt>
              </c:numCache>
            </c:numRef>
          </c:val>
        </c:ser>
        <c:ser>
          <c:idx val="1"/>
          <c:order val="1"/>
          <c:tx>
            <c:strRef>
              <c:f>Sheet1!$C$1</c:f>
              <c:strCache>
                <c:ptCount val="1"/>
                <c:pt idx="0">
                  <c:v>Test accuracy</c:v>
                </c:pt>
              </c:strCache>
            </c:strRef>
          </c:tx>
          <c:spPr>
            <a:solidFill>
              <a:srgbClr val="9AA5B1"/>
            </a:solidFill>
            <a:effectLst/>
          </c:spPr>
          <c:invertIfNegative val="0"/>
          <c:dLbls>
            <c:numFmt formatCode="0.0" sourceLinked="0"/>
            <c:txPr>
              <a:bodyPr/>
              <a:lstStyle/>
              <a:p>
                <a:pPr>
                  <a:defRPr b="0" i="0" strike="noStrike" sz="900" u="none">
                    <a:solidFill>
                      <a:srgbClr val="4A5560"/>
                    </a:solidFill>
                    <a:latin typeface="+mn-lt"/>
                  </a:defRPr>
                </a:pPr>
              </a:p>
            </c:txPr>
            <c:showLegendKey val="0"/>
            <c:showVal val="1"/>
            <c:showCatName val="0"/>
            <c:showSerName val="0"/>
            <c:showPercent val="0"/>
            <c:showBubbleSize val="0"/>
            <c:showLeaderLines val="0"/>
          </c:dLbls>
          <c:cat>
            <c:multiLvlStrRef>
              <c:f>Sheet1!$A$2:$A$6</c:f>
              <c:multiLvlStrCache>
                <c:ptCount val="5"/>
                <c:lvl>
                  <c:pt idx="0">
                    <c:v>Logistic Reg.</c:v>
                  </c:pt>
                  <c:pt idx="1">
                    <c:v>Naive Bayes</c:v>
                  </c:pt>
                  <c:pt idx="2">
                    <c:v>Linear SVM</c:v>
                  </c:pt>
                  <c:pt idx="3">
                    <c:v>Random Forest</c:v>
                  </c:pt>
                  <c:pt idx="4">
                    <c:v>Voting Ens.</c:v>
                  </c:pt>
                </c:lvl>
              </c:multiLvlStrCache>
            </c:multiLvlStrRef>
          </c:cat>
          <c:val>
            <c:numRef>
              <c:f>Sheet1!$C$2:$C$6</c:f>
              <c:numCache>
                <c:formatCode>General</c:formatCode>
                <c:ptCount val="5"/>
                <c:pt idx="0">
                  <c:v>75</c:v>
                </c:pt>
                <c:pt idx="1">
                  <c:v>81.3</c:v>
                </c:pt>
                <c:pt idx="2">
                  <c:v>75</c:v>
                </c:pt>
                <c:pt idx="3">
                  <c:v>75</c:v>
                </c:pt>
                <c:pt idx="4">
                  <c:v>75</c:v>
                </c:pt>
              </c:numCache>
            </c:numRef>
          </c:val>
        </c:ser>
        <c:dLbls>
          <c:numFmt formatCode="0.0" sourceLinked="0"/>
          <c:txPr>
            <a:bodyPr/>
            <a:lstStyle/>
            <a:p>
              <a:pPr>
                <a:defRPr b="0" i="0" strike="noStrike" sz="900" u="none">
                  <a:solidFill>
                    <a:srgbClr val="4A556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56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1E5E9"/>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560"/>
                </a:solidFill>
                <a:latin typeface="+mn-lt"/>
              </a:defRPr>
            </a:pPr>
            <a:endParaRPr lang="en-US"/>
          </a:p>
        </c:txPr>
        <c:crossAx val="2094734554"/>
        <c:crosses val="autoZero"/>
        <c:crossBetween val="between"/>
        <c:majorUnit val="25"/>
      </c:valAx>
      <c:spPr>
        <a:noFill/>
        <a:ln>
          <a:noFill/>
        </a:ln>
        <a:effectLst/>
      </c:spPr>
    </c:plotArea>
    <c:legend>
      <c:legendPos val="t"/>
      <c:overlay val="0"/>
      <c:txPr>
        <a:bodyPr/>
        <a:lstStyle/>
        <a:p>
          <a:pPr>
            <a:defRPr sz="1100">
              <a:solidFill>
                <a:srgbClr val="4A556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This project uses machine learning to automatically classify a news article as real or fake, using TF-IDF text features and ensemble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Fake news is misleading information made to look like real news. It spreads very quickly online, and there is too much of it to check manually, so we use machine learning to detect it automatically. On the right are two examples from our dataset: notice how the fake one uses sensational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a binary text classification task: input is news text, output is REAL or FAKE. Our four objectives are cleaning the data, converting text to numbers with TF-IDF, training and comparing five models, and building a small web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the Fake and Real News dataset from Kaggle, which has about 45 thousand articles and is roughly balanced. Real articles all start with a Reuters tag, so we remove it, otherwise the model would just learn that tag. We keep 80 percent for training and 20 percent for testing. A small 80-article sample dataset is included so the project runs without downloading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pipeline. We collect the data, clean the text, convert it to TF-IDF features, tune hyperparameters with GridSearchCV, train five models with cross-validation, and finally evaluate the best model and deploy it in a Streamlit web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text is noisy, so we clean it first. We lowercase everything and remove links, HTML tags, punctuation, numbers and extra spaces. Stop words are removed by the TF-IDF vectorizer. The example on the right is the actual output of our clean_text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learning models need numbers, not words. TF-IDF gives each word a score: term frequency is how often it appears in the article, and inverse document frequency is how rare it is overall. So very common words get a low score and distinctive words get a high score. We use single words and word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 five models. Three basic ones: Logistic Regression, Naive Bayes and Linear SVM. And two ensemble models: Random Forest, which combines 200 decision trees, and a soft Voting Ensemble that averages the predictions of three different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advanced parts of the project. Ensemble learning combines several models. GridSearchCV automatically tries different values of the hyperparameter C and keeps the best one, which was 100. And 5-fold cross-validation splits the training data into five parts and tests on each part once, which gives a more reliable accuracy than a single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compares all five models. The dark bars are cross-validation accuracy, the grey bars are accuracy on the test set. Logistic Regression and the Voting Ensemble both reach about 89 percent in cross-validation, and we choose Logistic Regression as the best model. These numbers come from the small demo dataset; with the full Kaggle dataset the accuracy is much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correct and wrong predictions for each class on the test set. The table shows precision, recall and F1-score. Precision tells us how many articles flagged as fake were really fake, recall tells us how many fake articles we caught, and F1 balances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simple web app with Streamlit. The user pastes news text, the app cleans it, the saved model predicts, and the result is shown with a confidence score. On the right is the app's layout with a real prediction from our model: 92.9 percent confidence that this text is fake.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limitation is that the model learns writing style, not actual facts, so a carefully written fake article could fool it. In future, we could use deep learning models like BERT, add fact-checking, support more languages, or build a browser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built a complete machine learning system that detects fake news, using TF-IDF, five models including ensembles, hyperparameter tuning and cross-validation, and deployed it as a web app. Thank you, and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1B1F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834640"/>
            <a:ext cx="8046720" cy="4572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4" name="Text 0"/>
          <p:cNvSpPr/>
          <p:nvPr>
            <p:ph idx="102" type="body" hasCustomPrompt="1"/>
          </p:nvPr>
        </p:nvSpPr>
        <p:spPr>
          <a:xfrm>
            <a:off x="548640" y="4069080"/>
            <a:ext cx="8046720" cy="457200"/>
          </a:xfrm>
          <a:prstGeom prst="rect">
            <a:avLst/>
          </a:prstGeom>
          <a:noFill/>
          <a:ln/>
        </p:spPr>
        <p:txBody>
          <a:bodyPr wrap="square" rtlCol="0"/>
          <a:lstStyle>
            <a:lvl1pPr indent="0" marL="0">
              <a:buNone/>
              <a:defRPr lang="en-US" sz="1400" dirty="0">
                <a:solidFill>
                  <a:schemeClr val="accent5"/>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Dark">
    <p:bg>
      <p:bgPr>
        <a:solidFill>
          <a:srgbClr val="1B1F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4A5560"/>
                </a:solidFill>
              </a:rPr>
              <a:t>Fake News Detection using Machine Learning</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EAL stamp"/>
          <p:cNvSpPr txBox="1"/>
          <p:nvPr/>
        </p:nvSpPr>
        <p:spPr>
          <a:xfrm>
            <a:off x="548640" y="777240"/>
            <a:ext cx="960120" cy="384048"/>
          </a:xfrm>
          <a:prstGeom prst="roundRect">
            <a:avLst>
              <a:gd name="adj" fmla="val 19048"/>
            </a:avLst>
          </a:prstGeom>
          <a:ln w="28575">
            <a:solidFill>
              <a:srgbClr val="2E8B57"/>
            </a:solidFill>
          </a:ln>
        </p:spPr>
        <p:txBody>
          <a:bodyPr wrap="square" lIns="0" tIns="0" rIns="0" bIns="0" rtlCol="0" anchor="ctr"/>
          <a:lstStyle/>
          <a:p>
            <a:pPr algn="ctr" indent="0" marL="0">
              <a:buNone/>
            </a:pPr>
            <a:r>
              <a:rPr lang="en-US" sz="1500" b="1" spc="400" kern="0" dirty="0">
                <a:solidFill>
                  <a:srgbClr val="2E8B57"/>
                </a:solidFill>
              </a:rPr>
              <a:t>REAL</a:t>
            </a:r>
            <a:endParaRPr lang="en-US" sz="1500" dirty="0"/>
          </a:p>
        </p:txBody>
      </p:sp>
      <p:sp>
        <p:nvSpPr>
          <p:cNvPr id="3" name="FAKE stamp"/>
          <p:cNvSpPr txBox="1"/>
          <p:nvPr/>
        </p:nvSpPr>
        <p:spPr>
          <a:xfrm rot="-360000">
            <a:off x="1691640" y="777240"/>
            <a:ext cx="960120" cy="384048"/>
          </a:xfrm>
          <a:prstGeom prst="roundRect">
            <a:avLst>
              <a:gd name="adj" fmla="val 19048"/>
            </a:avLst>
          </a:prstGeom>
          <a:ln w="28575">
            <a:solidFill>
              <a:srgbClr val="C0392B"/>
            </a:solidFill>
          </a:ln>
        </p:spPr>
        <p:txBody>
          <a:bodyPr wrap="square" lIns="0" tIns="0" rIns="0" bIns="0" rtlCol="0" anchor="ctr"/>
          <a:lstStyle/>
          <a:p>
            <a:pPr algn="ctr" indent="0" marL="0">
              <a:buNone/>
            </a:pPr>
            <a:r>
              <a:rPr lang="en-US" sz="1500" b="1" spc="400" kern="0" dirty="0">
                <a:solidFill>
                  <a:srgbClr val="C0392B"/>
                </a:solidFill>
              </a:rPr>
              <a:t>FAKE</a:t>
            </a:r>
            <a:endParaRPr lang="en-US" sz="1500" dirty="0"/>
          </a:p>
        </p:txBody>
      </p:sp>
      <p:sp>
        <p:nvSpPr>
          <p:cNvPr id="4" name="Text 0"/>
          <p:cNvSpPr/>
          <p:nvPr>
            <p:ph idx="100" type="title" hasCustomPrompt="1"/>
          </p:nvPr>
        </p:nvSpPr>
        <p:spPr>
          <a:xfrm>
            <a:off x="548640" y="1463040"/>
            <a:ext cx="8046720" cy="1280160"/>
          </a:xfrm>
          <a:prstGeom prst="rect">
            <a:avLst/>
          </a:prstGeom>
          <a:noFill/>
          <a:ln/>
        </p:spPr>
        <p:txBody>
          <a:bodyPr wrap="square" lIns="0" tIns="0" rIns="0" bIns="0" rtlCol="0" anchor="t"/>
          <a:lstStyle/>
          <a:p>
            <a:pPr algn="l" indent="0" marL="0">
              <a:buNone/>
            </a:pPr>
            <a:r>
              <a:rPr lang="en-US" sz="4000" b="1" dirty="0">
                <a:solidFill>
                  <a:schemeClr val="bg1"/>
                </a:solidFill>
              </a:rPr>
              <a:t>Fake News Detection using Machine Learning</a:t>
            </a:r>
            <a:endParaRPr lang="en-US" sz="4000" dirty="0"/>
          </a:p>
        </p:txBody>
      </p:sp>
      <p:sp>
        <p:nvSpPr>
          <p:cNvPr id="5" name="Text 0"/>
          <p:cNvSpPr/>
          <p:nvPr>
            <p:ph idx="101" type="body" hasCustomPrompt="1"/>
          </p:nvPr>
        </p:nvSpPr>
        <p:spPr>
          <a:xfrm>
            <a:off x="548640" y="2834640"/>
            <a:ext cx="8046720" cy="457200"/>
          </a:xfrm>
          <a:prstGeom prst="rect">
            <a:avLst/>
          </a:prstGeom>
          <a:noFill/>
          <a:ln/>
        </p:spPr>
        <p:txBody>
          <a:bodyPr wrap="square" lIns="0" tIns="0" rIns="0" bIns="0" rtlCol="0"/>
          <a:lstStyle/>
          <a:p>
            <a:pPr indent="0" marL="0">
              <a:buNone/>
            </a:pPr>
            <a:r>
              <a:rPr lang="en-US" sz="1800" dirty="0">
                <a:solidFill>
                  <a:schemeClr val="bg2"/>
                </a:solidFill>
              </a:rPr>
              <a:t>Classifying news articles as REAL or FAKE with TF-IDF and ensemble learning</a:t>
            </a:r>
            <a:endParaRPr lang="en-US" sz="1800" dirty="0"/>
          </a:p>
        </p:txBody>
      </p:sp>
      <p:sp>
        <p:nvSpPr>
          <p:cNvPr id="6" name="Text 0"/>
          <p:cNvSpPr/>
          <p:nvPr>
            <p:ph idx="102" type="body" hasCustomPrompt="1"/>
          </p:nvPr>
        </p:nvSpPr>
        <p:spPr>
          <a:xfrm>
            <a:off x="548640" y="4069080"/>
            <a:ext cx="8046720" cy="457200"/>
          </a:xfrm>
          <a:prstGeom prst="rect">
            <a:avLst/>
          </a:prstGeom>
          <a:noFill/>
          <a:ln/>
        </p:spPr>
        <p:txBody>
          <a:bodyPr wrap="square" lIns="0" tIns="0" rIns="0" bIns="0" rtlCol="0"/>
          <a:lstStyle/>
          <a:p>
            <a:pPr indent="0" marL="0">
              <a:buNone/>
            </a:pPr>
            <a:r>
              <a:rPr lang="en-US" sz="1400" dirty="0">
                <a:solidFill>
                  <a:schemeClr val="accent5"/>
                </a:solidFill>
              </a:rPr>
              <a:t>Submitted by: Your Name   |   Roll No: ______   |   Subject: Machine Learning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What is Fake News?</a:t>
            </a:r>
            <a:endParaRPr lang="en-US" sz="3200" dirty="0"/>
          </a:p>
        </p:txBody>
      </p:sp>
      <p:sp>
        <p:nvSpPr>
          <p:cNvPr id="3" name="Text 1"/>
          <p:cNvSpPr txBox="1"/>
          <p:nvPr/>
        </p:nvSpPr>
        <p:spPr>
          <a:xfrm>
            <a:off x="457200" y="1188720"/>
            <a:ext cx="4206240" cy="685800"/>
          </a:xfrm>
          <a:prstGeom prst="rect">
            <a:avLst/>
          </a:prstGeom>
          <a:noFill/>
          <a:ln/>
        </p:spPr>
        <p:txBody>
          <a:bodyPr wrap="square" lIns="0" tIns="0" rIns="0" bIns="0" rtlCol="0" anchor="t"/>
          <a:lstStyle/>
          <a:p>
            <a:pPr indent="0" marL="0">
              <a:buNone/>
            </a:pPr>
            <a:r>
              <a:rPr lang="en-US" sz="1700" b="1" dirty="0">
                <a:solidFill>
                  <a:schemeClr val="tx1"/>
                </a:solidFill>
              </a:rPr>
              <a:t>Fake news is false or misleading information presented as if it were real news.</a:t>
            </a:r>
            <a:endParaRPr lang="en-US" sz="1700" dirty="0"/>
          </a:p>
        </p:txBody>
      </p:sp>
      <p:sp>
        <p:nvSpPr>
          <p:cNvPr id="4" name="Text 2"/>
          <p:cNvSpPr txBox="1"/>
          <p:nvPr/>
        </p:nvSpPr>
        <p:spPr>
          <a:xfrm>
            <a:off x="457200" y="1965960"/>
            <a:ext cx="4206240" cy="237744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2"/>
                </a:solidFill>
              </a:rPr>
              <a:t>Spreads fast on social media and WhatsApp</a:t>
            </a:r>
            <a:endParaRPr lang="en-US" sz="1600" dirty="0"/>
          </a:p>
          <a:p>
            <a:pPr marL="228600" indent="-228600">
              <a:spcAft>
                <a:spcPts val="1000"/>
              </a:spcAft>
              <a:buSzPct val="100000"/>
              <a:buChar char="•"/>
            </a:pPr>
            <a:r>
              <a:rPr lang="en-US" sz="1600" dirty="0">
                <a:solidFill>
                  <a:schemeClr val="tx2"/>
                </a:solidFill>
              </a:rPr>
              <a:t>Can influence elections, health choices and public opinion</a:t>
            </a:r>
            <a:endParaRPr lang="en-US" sz="1600" dirty="0"/>
          </a:p>
          <a:p>
            <a:pPr marL="228600" indent="-228600">
              <a:spcAft>
                <a:spcPts val="1000"/>
              </a:spcAft>
              <a:buSzPct val="100000"/>
              <a:buChar char="•"/>
            </a:pPr>
            <a:r>
              <a:rPr lang="en-US" sz="1600" dirty="0">
                <a:solidFill>
                  <a:schemeClr val="tx2"/>
                </a:solidFill>
              </a:rPr>
              <a:t>Far too much content to fact-check by hand</a:t>
            </a:r>
            <a:endParaRPr lang="en-US" sz="1600" dirty="0"/>
          </a:p>
          <a:p>
            <a:pPr marL="228600" indent="-228600">
              <a:spcAft>
                <a:spcPts val="1000"/>
              </a:spcAft>
              <a:buSzPct val="100000"/>
              <a:buChar char="•"/>
            </a:pPr>
            <a:r>
              <a:rPr lang="en-US" sz="1600" dirty="0">
                <a:solidFill>
                  <a:schemeClr val="tx2"/>
                </a:solidFill>
              </a:rPr>
              <a:t>Machine learning can flag suspicious articles automatically</a:t>
            </a:r>
            <a:endParaRPr lang="en-US" sz="1600" dirty="0"/>
          </a:p>
        </p:txBody>
      </p:sp>
      <p:sp>
        <p:nvSpPr>
          <p:cNvPr id="5" name="FAKE example card"/>
          <p:cNvSpPr/>
          <p:nvPr/>
        </p:nvSpPr>
        <p:spPr>
          <a:xfrm>
            <a:off x="4937760" y="1234440"/>
            <a:ext cx="3749040" cy="141732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6" name="Text 4"/>
          <p:cNvSpPr txBox="1"/>
          <p:nvPr/>
        </p:nvSpPr>
        <p:spPr>
          <a:xfrm>
            <a:off x="5120640" y="1399032"/>
            <a:ext cx="731520" cy="274320"/>
          </a:xfrm>
          <a:prstGeom prst="rect">
            <a:avLst/>
          </a:prstGeom>
          <a:solidFill>
            <a:schemeClr val="accent1"/>
          </a:solidFill>
          <a:ln/>
        </p:spPr>
        <p:txBody>
          <a:bodyPr wrap="square" lIns="0" tIns="0" rIns="0" bIns="0" rtlCol="0" anchor="ctr"/>
          <a:lstStyle/>
          <a:p>
            <a:pPr algn="ctr" indent="0" marL="0">
              <a:buNone/>
            </a:pPr>
            <a:r>
              <a:rPr lang="en-US" sz="1200" b="1" spc="200" kern="0" dirty="0">
                <a:solidFill>
                  <a:schemeClr val="bg1"/>
                </a:solidFill>
              </a:rPr>
              <a:t>FAKE</a:t>
            </a:r>
            <a:endParaRPr lang="en-US" sz="1200" dirty="0"/>
          </a:p>
        </p:txBody>
      </p:sp>
      <p:sp>
        <p:nvSpPr>
          <p:cNvPr id="7" name="Text 5"/>
          <p:cNvSpPr txBox="1"/>
          <p:nvPr/>
        </p:nvSpPr>
        <p:spPr>
          <a:xfrm>
            <a:off x="5120640" y="1737360"/>
            <a:ext cx="3383280" cy="777240"/>
          </a:xfrm>
          <a:prstGeom prst="rect">
            <a:avLst/>
          </a:prstGeom>
          <a:noFill/>
          <a:ln/>
        </p:spPr>
        <p:txBody>
          <a:bodyPr wrap="square" lIns="0" tIns="0" rIns="0" bIns="0" rtlCol="0" anchor="t"/>
          <a:lstStyle/>
          <a:p>
            <a:pPr indent="0" marL="0">
              <a:buNone/>
            </a:pPr>
            <a:r>
              <a:rPr lang="en-US" sz="1400" i="1" dirty="0">
                <a:solidFill>
                  <a:schemeClr val="tx1"/>
                </a:solidFill>
              </a:rPr>
              <a:t>“Drinking hot water every 15 minutes kills all viruses instantly, says anonymous doctor.”</a:t>
            </a:r>
            <a:endParaRPr lang="en-US" sz="1400" dirty="0"/>
          </a:p>
        </p:txBody>
      </p:sp>
      <p:sp>
        <p:nvSpPr>
          <p:cNvPr id="8" name="REAL example card"/>
          <p:cNvSpPr/>
          <p:nvPr/>
        </p:nvSpPr>
        <p:spPr>
          <a:xfrm>
            <a:off x="4937760" y="2834640"/>
            <a:ext cx="3749040" cy="141732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9" name="Text 7"/>
          <p:cNvSpPr txBox="1"/>
          <p:nvPr/>
        </p:nvSpPr>
        <p:spPr>
          <a:xfrm>
            <a:off x="5120640" y="2999232"/>
            <a:ext cx="731520" cy="274320"/>
          </a:xfrm>
          <a:prstGeom prst="rect">
            <a:avLst/>
          </a:prstGeom>
          <a:solidFill>
            <a:schemeClr val="accent2"/>
          </a:solidFill>
          <a:ln/>
        </p:spPr>
        <p:txBody>
          <a:bodyPr wrap="square" lIns="0" tIns="0" rIns="0" bIns="0" rtlCol="0" anchor="ctr"/>
          <a:lstStyle/>
          <a:p>
            <a:pPr algn="ctr" indent="0" marL="0">
              <a:buNone/>
            </a:pPr>
            <a:r>
              <a:rPr lang="en-US" sz="1200" b="1" spc="200" kern="0" dirty="0">
                <a:solidFill>
                  <a:schemeClr val="bg1"/>
                </a:solidFill>
              </a:rPr>
              <a:t>REAL</a:t>
            </a:r>
            <a:endParaRPr lang="en-US" sz="1200" dirty="0"/>
          </a:p>
        </p:txBody>
      </p:sp>
      <p:sp>
        <p:nvSpPr>
          <p:cNvPr id="10" name="Text 8"/>
          <p:cNvSpPr txBox="1"/>
          <p:nvPr/>
        </p:nvSpPr>
        <p:spPr>
          <a:xfrm>
            <a:off x="5120640" y="3337560"/>
            <a:ext cx="3383280" cy="777240"/>
          </a:xfrm>
          <a:prstGeom prst="rect">
            <a:avLst/>
          </a:prstGeom>
          <a:noFill/>
          <a:ln/>
        </p:spPr>
        <p:txBody>
          <a:bodyPr wrap="square" lIns="0" tIns="0" rIns="0" bIns="0" rtlCol="0" anchor="t"/>
          <a:lstStyle/>
          <a:p>
            <a:pPr indent="0" marL="0">
              <a:buNone/>
            </a:pPr>
            <a:r>
              <a:rPr lang="en-US" sz="1400" i="1" dirty="0">
                <a:solidFill>
                  <a:schemeClr val="tx1"/>
                </a:solidFill>
              </a:rPr>
              <a:t>“The health ministry reported a 4 percent increase in seasonal flu cases compared with last year.”</a:t>
            </a:r>
            <a:endParaRPr lang="en-US" sz="1400" dirty="0"/>
          </a:p>
        </p:txBody>
      </p:sp>
      <p:sp>
        <p:nvSpPr>
          <p:cNvPr id="11" name="Text 9"/>
          <p:cNvSpPr txBox="1"/>
          <p:nvPr/>
        </p:nvSpPr>
        <p:spPr>
          <a:xfrm>
            <a:off x="4937760" y="4343400"/>
            <a:ext cx="3749040" cy="274320"/>
          </a:xfrm>
          <a:prstGeom prst="rect">
            <a:avLst/>
          </a:prstGeom>
          <a:noFill/>
          <a:ln/>
        </p:spPr>
        <p:txBody>
          <a:bodyPr wrap="square" lIns="0" tIns="0" rIns="0" bIns="0" rtlCol="0" anchor="ctr"/>
          <a:lstStyle/>
          <a:p>
            <a:pPr indent="0" marL="0">
              <a:buNone/>
            </a:pPr>
            <a:r>
              <a:rPr lang="en-US" sz="1000" dirty="0">
                <a:solidFill>
                  <a:schemeClr val="tx2"/>
                </a:solidFill>
              </a:rPr>
              <a:t>Examples from the project's sample dataset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Problem Statement &amp; Objectives</a:t>
            </a:r>
            <a:endParaRPr lang="en-US" sz="3200" dirty="0"/>
          </a:p>
        </p:txBody>
      </p:sp>
      <p:sp>
        <p:nvSpPr>
          <p:cNvPr id="3" name="Problem panel"/>
          <p:cNvSpPr/>
          <p:nvPr/>
        </p:nvSpPr>
        <p:spPr>
          <a:xfrm>
            <a:off x="457200" y="1143000"/>
            <a:ext cx="8229600" cy="868680"/>
          </a:xfrm>
          <a:prstGeom prst="rect">
            <a:avLst/>
          </a:prstGeom>
          <a:solidFill>
            <a:schemeClr val="tx1"/>
          </a:solidFill>
          <a:ln/>
          <a:effectLst>
            <a:outerShdw sx="100000" sy="100000" kx="0" ky="0" algn="bl" rotWithShape="0" blurRad="76200" dist="25400" dir="5400000">
              <a:srgbClr val="000000">
                <a:alpha val="12000"/>
              </a:srgbClr>
            </a:outerShdw>
          </a:effectLst>
        </p:spPr>
      </p:sp>
      <p:sp>
        <p:nvSpPr>
          <p:cNvPr id="4" name="Problem circle"/>
          <p:cNvSpPr/>
          <p:nvPr/>
        </p:nvSpPr>
        <p:spPr>
          <a:xfrm>
            <a:off x="640080" y="1307592"/>
            <a:ext cx="548640" cy="548640"/>
          </a:xfrm>
          <a:prstGeom prst="ellipse">
            <a:avLst/>
          </a:prstGeom>
          <a:solidFill>
            <a:schemeClr val="accent1"/>
          </a:solidFill>
          <a:ln/>
        </p:spPr>
      </p:sp>
      <p:pic>
        <p:nvPicPr>
          <p:cNvPr id="5" name="Problem icon" descr="Problem">    </p:cNvPr>
          <p:cNvPicPr>
            <a:picLocks noChangeAspect="1"/>
          </p:cNvPicPr>
          <p:nvPr/>
        </p:nvPicPr>
        <p:blipFill>
          <a:blip r:embed="rId1"/>
          <a:stretch>
            <a:fillRect/>
          </a:stretch>
        </p:blipFill>
        <p:spPr>
          <a:xfrm>
            <a:off x="777240" y="1444752"/>
            <a:ext cx="274320" cy="274320"/>
          </a:xfrm>
          <a:prstGeom prst="rect">
            <a:avLst/>
          </a:prstGeom>
        </p:spPr>
      </p:pic>
      <p:sp>
        <p:nvSpPr>
          <p:cNvPr id="6" name="Text 3"/>
          <p:cNvSpPr txBox="1"/>
          <p:nvPr/>
        </p:nvSpPr>
        <p:spPr>
          <a:xfrm>
            <a:off x="1371600" y="1143000"/>
            <a:ext cx="7132320" cy="868680"/>
          </a:xfrm>
          <a:prstGeom prst="rect">
            <a:avLst/>
          </a:prstGeom>
          <a:noFill/>
          <a:ln/>
        </p:spPr>
        <p:txBody>
          <a:bodyPr wrap="square" lIns="0" tIns="0" rIns="0" bIns="0" rtlCol="0" anchor="ctr"/>
          <a:lstStyle/>
          <a:p>
            <a:pPr indent="0" marL="0">
              <a:buNone/>
            </a:pPr>
            <a:r>
              <a:rPr lang="en-US" sz="1700" b="1" dirty="0">
                <a:solidFill>
                  <a:schemeClr val="bg1"/>
                </a:solidFill>
              </a:rPr>
              <a:t>Problem: </a:t>
            </a:r>
            <a:pPr indent="0" marL="0">
              <a:buNone/>
            </a:pPr>
            <a:r>
              <a:rPr lang="en-US" sz="1700" dirty="0">
                <a:solidFill>
                  <a:schemeClr val="bg1"/>
                </a:solidFill>
              </a:rPr>
              <a:t>Given the text of a news article, automatically predict whether it is REAL or FAKE.</a:t>
            </a:r>
            <a:endParaRPr lang="en-US" sz="1700" dirty="0"/>
          </a:p>
        </p:txBody>
      </p:sp>
      <p:sp>
        <p:nvSpPr>
          <p:cNvPr id="7" name="Text 4"/>
          <p:cNvSpPr txBox="1"/>
          <p:nvPr/>
        </p:nvSpPr>
        <p:spPr>
          <a:xfrm>
            <a:off x="457200" y="2194560"/>
            <a:ext cx="3657600" cy="365760"/>
          </a:xfrm>
          <a:prstGeom prst="rect">
            <a:avLst/>
          </a:prstGeom>
          <a:noFill/>
          <a:ln/>
        </p:spPr>
        <p:txBody>
          <a:bodyPr wrap="square" lIns="0" tIns="0" rIns="0" bIns="0" rtlCol="0" anchor="ctr"/>
          <a:lstStyle/>
          <a:p>
            <a:pPr indent="0" marL="0">
              <a:buNone/>
            </a:pPr>
            <a:r>
              <a:rPr lang="en-US" sz="1800" b="1" dirty="0">
                <a:solidFill>
                  <a:schemeClr val="tx1"/>
                </a:solidFill>
              </a:rPr>
              <a:t>Objectives</a:t>
            </a:r>
            <a:endParaRPr lang="en-US" sz="1800" dirty="0"/>
          </a:p>
        </p:txBody>
      </p:sp>
      <p:sp>
        <p:nvSpPr>
          <p:cNvPr id="8" name="Objective 1"/>
          <p:cNvSpPr/>
          <p:nvPr/>
        </p:nvSpPr>
        <p:spPr>
          <a:xfrm>
            <a:off x="457200" y="2651760"/>
            <a:ext cx="3977640" cy="82296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9" name="Objective 1 circle"/>
          <p:cNvSpPr/>
          <p:nvPr/>
        </p:nvSpPr>
        <p:spPr>
          <a:xfrm>
            <a:off x="640080" y="2788920"/>
            <a:ext cx="548640" cy="548640"/>
          </a:xfrm>
          <a:prstGeom prst="ellipse">
            <a:avLst/>
          </a:prstGeom>
          <a:solidFill>
            <a:schemeClr val="accent3"/>
          </a:solidFill>
          <a:ln/>
        </p:spPr>
      </p:sp>
      <p:pic>
        <p:nvPicPr>
          <p:cNvPr id="10" name="Objective 1 icon" descr="Objective 1">    </p:cNvPr>
          <p:cNvPicPr>
            <a:picLocks noChangeAspect="1"/>
          </p:cNvPicPr>
          <p:nvPr/>
        </p:nvPicPr>
        <p:blipFill>
          <a:blip r:embed="rId2"/>
          <a:stretch>
            <a:fillRect/>
          </a:stretch>
        </p:blipFill>
        <p:spPr>
          <a:xfrm>
            <a:off x="777240" y="2926080"/>
            <a:ext cx="274320" cy="274320"/>
          </a:xfrm>
          <a:prstGeom prst="rect">
            <a:avLst/>
          </a:prstGeom>
        </p:spPr>
      </p:pic>
      <p:sp>
        <p:nvSpPr>
          <p:cNvPr id="11" name="Text 7"/>
          <p:cNvSpPr txBox="1"/>
          <p:nvPr/>
        </p:nvSpPr>
        <p:spPr>
          <a:xfrm>
            <a:off x="1325880" y="2651760"/>
            <a:ext cx="2971800" cy="822960"/>
          </a:xfrm>
          <a:prstGeom prst="rect">
            <a:avLst/>
          </a:prstGeom>
          <a:noFill/>
          <a:ln/>
        </p:spPr>
        <p:txBody>
          <a:bodyPr wrap="square" lIns="0" tIns="0" rIns="0" bIns="0" rtlCol="0" anchor="ctr"/>
          <a:lstStyle/>
          <a:p>
            <a:pPr indent="0" marL="0">
              <a:buNone/>
            </a:pPr>
            <a:r>
              <a:rPr lang="en-US" sz="1500" dirty="0">
                <a:solidFill>
                  <a:schemeClr val="tx1"/>
                </a:solidFill>
              </a:rPr>
              <a:t>Clean and prepare raw news text</a:t>
            </a:r>
            <a:endParaRPr lang="en-US" sz="1500" dirty="0"/>
          </a:p>
        </p:txBody>
      </p:sp>
      <p:sp>
        <p:nvSpPr>
          <p:cNvPr id="12" name="Objective 2"/>
          <p:cNvSpPr/>
          <p:nvPr/>
        </p:nvSpPr>
        <p:spPr>
          <a:xfrm>
            <a:off x="4709160" y="2651760"/>
            <a:ext cx="3977640" cy="82296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13" name="Objective 2 circle"/>
          <p:cNvSpPr/>
          <p:nvPr/>
        </p:nvSpPr>
        <p:spPr>
          <a:xfrm>
            <a:off x="4892040" y="2788920"/>
            <a:ext cx="548640" cy="548640"/>
          </a:xfrm>
          <a:prstGeom prst="ellipse">
            <a:avLst/>
          </a:prstGeom>
          <a:solidFill>
            <a:schemeClr val="accent3"/>
          </a:solidFill>
          <a:ln/>
        </p:spPr>
      </p:sp>
      <p:pic>
        <p:nvPicPr>
          <p:cNvPr id="14" name="Objective 2 icon" descr="Objective 2">    </p:cNvPr>
          <p:cNvPicPr>
            <a:picLocks noChangeAspect="1"/>
          </p:cNvPicPr>
          <p:nvPr/>
        </p:nvPicPr>
        <p:blipFill>
          <a:blip r:embed="rId3"/>
          <a:stretch>
            <a:fillRect/>
          </a:stretch>
        </p:blipFill>
        <p:spPr>
          <a:xfrm>
            <a:off x="5029200" y="2926080"/>
            <a:ext cx="274320" cy="274320"/>
          </a:xfrm>
          <a:prstGeom prst="rect">
            <a:avLst/>
          </a:prstGeom>
        </p:spPr>
      </p:pic>
      <p:sp>
        <p:nvSpPr>
          <p:cNvPr id="15" name="Text 10"/>
          <p:cNvSpPr txBox="1"/>
          <p:nvPr/>
        </p:nvSpPr>
        <p:spPr>
          <a:xfrm>
            <a:off x="5577840" y="2651760"/>
            <a:ext cx="2971800" cy="822960"/>
          </a:xfrm>
          <a:prstGeom prst="rect">
            <a:avLst/>
          </a:prstGeom>
          <a:noFill/>
          <a:ln/>
        </p:spPr>
        <p:txBody>
          <a:bodyPr wrap="square" lIns="0" tIns="0" rIns="0" bIns="0" rtlCol="0" anchor="ctr"/>
          <a:lstStyle/>
          <a:p>
            <a:pPr indent="0" marL="0">
              <a:buNone/>
            </a:pPr>
            <a:r>
              <a:rPr lang="en-US" sz="1500" dirty="0">
                <a:solidFill>
                  <a:schemeClr val="tx1"/>
                </a:solidFill>
              </a:rPr>
              <a:t>Represent text as TF-IDF vectors</a:t>
            </a:r>
            <a:endParaRPr lang="en-US" sz="1500" dirty="0"/>
          </a:p>
        </p:txBody>
      </p:sp>
      <p:sp>
        <p:nvSpPr>
          <p:cNvPr id="16" name="Objective 3"/>
          <p:cNvSpPr/>
          <p:nvPr/>
        </p:nvSpPr>
        <p:spPr>
          <a:xfrm>
            <a:off x="457200" y="3657600"/>
            <a:ext cx="3977640" cy="82296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17" name="Objective 3 circle"/>
          <p:cNvSpPr/>
          <p:nvPr/>
        </p:nvSpPr>
        <p:spPr>
          <a:xfrm>
            <a:off x="640080" y="3794760"/>
            <a:ext cx="548640" cy="548640"/>
          </a:xfrm>
          <a:prstGeom prst="ellipse">
            <a:avLst/>
          </a:prstGeom>
          <a:solidFill>
            <a:schemeClr val="accent3"/>
          </a:solidFill>
          <a:ln/>
        </p:spPr>
      </p:sp>
      <p:pic>
        <p:nvPicPr>
          <p:cNvPr id="18" name="Objective 3 icon" descr="Objective 3">    </p:cNvPr>
          <p:cNvPicPr>
            <a:picLocks noChangeAspect="1"/>
          </p:cNvPicPr>
          <p:nvPr/>
        </p:nvPicPr>
        <p:blipFill>
          <a:blip r:embed="rId4"/>
          <a:stretch>
            <a:fillRect/>
          </a:stretch>
        </p:blipFill>
        <p:spPr>
          <a:xfrm>
            <a:off x="777240" y="3931920"/>
            <a:ext cx="274320" cy="274320"/>
          </a:xfrm>
          <a:prstGeom prst="rect">
            <a:avLst/>
          </a:prstGeom>
        </p:spPr>
      </p:pic>
      <p:sp>
        <p:nvSpPr>
          <p:cNvPr id="19" name="Text 13"/>
          <p:cNvSpPr txBox="1"/>
          <p:nvPr/>
        </p:nvSpPr>
        <p:spPr>
          <a:xfrm>
            <a:off x="1325880" y="3657600"/>
            <a:ext cx="2971800" cy="822960"/>
          </a:xfrm>
          <a:prstGeom prst="rect">
            <a:avLst/>
          </a:prstGeom>
          <a:noFill/>
          <a:ln/>
        </p:spPr>
        <p:txBody>
          <a:bodyPr wrap="square" lIns="0" tIns="0" rIns="0" bIns="0" rtlCol="0" anchor="ctr"/>
          <a:lstStyle/>
          <a:p>
            <a:pPr indent="0" marL="0">
              <a:buNone/>
            </a:pPr>
            <a:r>
              <a:rPr lang="en-US" sz="1500" dirty="0">
                <a:solidFill>
                  <a:schemeClr val="tx1"/>
                </a:solidFill>
              </a:rPr>
              <a:t>Train and compare 5 ML models, including ensembles</a:t>
            </a:r>
            <a:endParaRPr lang="en-US" sz="1500" dirty="0"/>
          </a:p>
        </p:txBody>
      </p:sp>
      <p:sp>
        <p:nvSpPr>
          <p:cNvPr id="20" name="Objective 4"/>
          <p:cNvSpPr/>
          <p:nvPr/>
        </p:nvSpPr>
        <p:spPr>
          <a:xfrm>
            <a:off x="4709160" y="3657600"/>
            <a:ext cx="3977640" cy="82296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21" name="Objective 4 circle"/>
          <p:cNvSpPr/>
          <p:nvPr/>
        </p:nvSpPr>
        <p:spPr>
          <a:xfrm>
            <a:off x="4892040" y="3794760"/>
            <a:ext cx="548640" cy="548640"/>
          </a:xfrm>
          <a:prstGeom prst="ellipse">
            <a:avLst/>
          </a:prstGeom>
          <a:solidFill>
            <a:schemeClr val="accent3"/>
          </a:solidFill>
          <a:ln/>
        </p:spPr>
      </p:sp>
      <p:pic>
        <p:nvPicPr>
          <p:cNvPr id="22" name="Objective 4 icon" descr="Objective 4">    </p:cNvPr>
          <p:cNvPicPr>
            <a:picLocks noChangeAspect="1"/>
          </p:cNvPicPr>
          <p:nvPr/>
        </p:nvPicPr>
        <p:blipFill>
          <a:blip r:embed="rId5"/>
          <a:stretch>
            <a:fillRect/>
          </a:stretch>
        </p:blipFill>
        <p:spPr>
          <a:xfrm>
            <a:off x="5029200" y="3931920"/>
            <a:ext cx="274320" cy="274320"/>
          </a:xfrm>
          <a:prstGeom prst="rect">
            <a:avLst/>
          </a:prstGeom>
        </p:spPr>
      </p:pic>
      <p:sp>
        <p:nvSpPr>
          <p:cNvPr id="23" name="Text 16"/>
          <p:cNvSpPr txBox="1"/>
          <p:nvPr/>
        </p:nvSpPr>
        <p:spPr>
          <a:xfrm>
            <a:off x="5577840" y="3657600"/>
            <a:ext cx="2971800" cy="822960"/>
          </a:xfrm>
          <a:prstGeom prst="rect">
            <a:avLst/>
          </a:prstGeom>
          <a:noFill/>
          <a:ln/>
        </p:spPr>
        <p:txBody>
          <a:bodyPr wrap="square" lIns="0" tIns="0" rIns="0" bIns="0" rtlCol="0" anchor="ctr"/>
          <a:lstStyle/>
          <a:p>
            <a:pPr indent="0" marL="0">
              <a:buNone/>
            </a:pPr>
            <a:r>
              <a:rPr lang="en-US" sz="1500" dirty="0">
                <a:solidFill>
                  <a:schemeClr val="tx1"/>
                </a:solidFill>
              </a:rPr>
              <a:t>Build a web app for live predictions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Dataset</a:t>
            </a:r>
            <a:endParaRPr lang="en-US" sz="3200" dirty="0"/>
          </a:p>
        </p:txBody>
      </p:sp>
      <p:graphicFrame>
        <p:nvGraphicFramePr>
          <p:cNvPr id="3" name="Dataset split chart" descr=""/>
          <p:cNvGraphicFramePr/>
          <p:nvPr/>
        </p:nvGraphicFramePr>
        <p:xfrm>
          <a:off x="457200" y="1097280"/>
          <a:ext cx="3840480" cy="3520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0" y="1188720"/>
            <a:ext cx="1600200" cy="5486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44,898</a:t>
            </a:r>
            <a:endParaRPr lang="en-US" sz="3000" dirty="0"/>
          </a:p>
        </p:txBody>
      </p:sp>
      <p:sp>
        <p:nvSpPr>
          <p:cNvPr id="5" name="Text 2"/>
          <p:cNvSpPr txBox="1"/>
          <p:nvPr/>
        </p:nvSpPr>
        <p:spPr>
          <a:xfrm>
            <a:off x="6217920" y="1188720"/>
            <a:ext cx="2468880" cy="548640"/>
          </a:xfrm>
          <a:prstGeom prst="rect">
            <a:avLst/>
          </a:prstGeom>
          <a:noFill/>
          <a:ln/>
        </p:spPr>
        <p:txBody>
          <a:bodyPr wrap="square" lIns="0" tIns="0" rIns="0" bIns="0" rtlCol="0" anchor="ctr"/>
          <a:lstStyle/>
          <a:p>
            <a:pPr indent="0" marL="0">
              <a:buNone/>
            </a:pPr>
            <a:r>
              <a:rPr lang="en-US" sz="1500" dirty="0">
                <a:solidFill>
                  <a:schemeClr val="tx2"/>
                </a:solidFill>
              </a:rPr>
              <a:t>news articles in total</a:t>
            </a:r>
            <a:endParaRPr lang="en-US" sz="1500" dirty="0"/>
          </a:p>
        </p:txBody>
      </p:sp>
      <p:sp>
        <p:nvSpPr>
          <p:cNvPr id="6" name="Text 3"/>
          <p:cNvSpPr txBox="1"/>
          <p:nvPr/>
        </p:nvSpPr>
        <p:spPr>
          <a:xfrm>
            <a:off x="4572000" y="1783080"/>
            <a:ext cx="160020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23,481</a:t>
            </a:r>
            <a:endParaRPr lang="en-US" sz="3000" dirty="0"/>
          </a:p>
        </p:txBody>
      </p:sp>
      <p:sp>
        <p:nvSpPr>
          <p:cNvPr id="7" name="Text 4"/>
          <p:cNvSpPr txBox="1"/>
          <p:nvPr/>
        </p:nvSpPr>
        <p:spPr>
          <a:xfrm>
            <a:off x="6217920" y="1783080"/>
            <a:ext cx="2468880" cy="548640"/>
          </a:xfrm>
          <a:prstGeom prst="rect">
            <a:avLst/>
          </a:prstGeom>
          <a:noFill/>
          <a:ln/>
        </p:spPr>
        <p:txBody>
          <a:bodyPr wrap="square" lIns="0" tIns="0" rIns="0" bIns="0" rtlCol="0" anchor="ctr"/>
          <a:lstStyle/>
          <a:p>
            <a:pPr indent="0" marL="0">
              <a:buNone/>
            </a:pPr>
            <a:r>
              <a:rPr lang="en-US" sz="1500" dirty="0">
                <a:solidFill>
                  <a:schemeClr val="tx2"/>
                </a:solidFill>
              </a:rPr>
              <a:t>FAKE articles</a:t>
            </a:r>
            <a:endParaRPr lang="en-US" sz="1500" dirty="0"/>
          </a:p>
        </p:txBody>
      </p:sp>
      <p:sp>
        <p:nvSpPr>
          <p:cNvPr id="8" name="Text 5"/>
          <p:cNvSpPr txBox="1"/>
          <p:nvPr/>
        </p:nvSpPr>
        <p:spPr>
          <a:xfrm>
            <a:off x="4572000" y="2377440"/>
            <a:ext cx="1600200" cy="5486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21,417</a:t>
            </a:r>
            <a:endParaRPr lang="en-US" sz="3000" dirty="0"/>
          </a:p>
        </p:txBody>
      </p:sp>
      <p:sp>
        <p:nvSpPr>
          <p:cNvPr id="9" name="Text 6"/>
          <p:cNvSpPr txBox="1"/>
          <p:nvPr/>
        </p:nvSpPr>
        <p:spPr>
          <a:xfrm>
            <a:off x="6217920" y="2377440"/>
            <a:ext cx="2468880" cy="548640"/>
          </a:xfrm>
          <a:prstGeom prst="rect">
            <a:avLst/>
          </a:prstGeom>
          <a:noFill/>
          <a:ln/>
        </p:spPr>
        <p:txBody>
          <a:bodyPr wrap="square" lIns="0" tIns="0" rIns="0" bIns="0" rtlCol="0" anchor="ctr"/>
          <a:lstStyle/>
          <a:p>
            <a:pPr indent="0" marL="0">
              <a:buNone/>
            </a:pPr>
            <a:r>
              <a:rPr lang="en-US" sz="1500" dirty="0">
                <a:solidFill>
                  <a:schemeClr val="tx2"/>
                </a:solidFill>
              </a:rPr>
              <a:t>REAL articles</a:t>
            </a:r>
            <a:endParaRPr lang="en-US" sz="1500" dirty="0"/>
          </a:p>
        </p:txBody>
      </p:sp>
      <p:sp>
        <p:nvSpPr>
          <p:cNvPr id="10" name="Preparation card"/>
          <p:cNvSpPr/>
          <p:nvPr/>
        </p:nvSpPr>
        <p:spPr>
          <a:xfrm>
            <a:off x="4572000" y="3063240"/>
            <a:ext cx="4114800" cy="150876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11" name="Text 8"/>
          <p:cNvSpPr txBox="1"/>
          <p:nvPr/>
        </p:nvSpPr>
        <p:spPr>
          <a:xfrm>
            <a:off x="4754880" y="3154680"/>
            <a:ext cx="3794760" cy="1325880"/>
          </a:xfrm>
          <a:prstGeom prst="rect">
            <a:avLst/>
          </a:prstGeom>
          <a:noFill/>
          <a:ln/>
        </p:spPr>
        <p:txBody>
          <a:bodyPr wrap="square" lIns="0" tIns="0" rIns="0" bIns="0" rtlCol="0" anchor="t"/>
          <a:lstStyle/>
          <a:p>
            <a:pPr indent="0" marL="0">
              <a:buNone/>
            </a:pPr>
            <a:r>
              <a:rPr lang="en-US" sz="1400" b="1" dirty="0">
                <a:solidFill>
                  <a:schemeClr val="tx1"/>
                </a:solidFill>
              </a:rPr>
              <a:t>Data preparation</a:t>
            </a:r>
            <a:endParaRPr lang="en-US" sz="1400" dirty="0"/>
          </a:p>
          <a:p>
            <a:pPr marL="228600" indent="-228600">
              <a:buSzPct val="100000"/>
              <a:buChar char="•"/>
            </a:pPr>
            <a:r>
              <a:rPr lang="en-US" sz="1400" dirty="0">
                <a:solidFill>
                  <a:schemeClr val="tx2"/>
                </a:solidFill>
              </a:rPr>
              <a:t>Title + text combined into one field</a:t>
            </a:r>
            <a:endParaRPr lang="en-US" sz="1400" dirty="0"/>
          </a:p>
          <a:p>
            <a:pPr marL="228600" indent="-228600">
              <a:buSzPct val="100000"/>
              <a:buChar char="•"/>
            </a:pPr>
            <a:r>
              <a:rPr lang="en-US" sz="1400" dirty="0">
                <a:solidFill>
                  <a:schemeClr val="tx2"/>
                </a:solidFill>
              </a:rPr>
              <a:t>Duplicates and empty rows removed</a:t>
            </a:r>
            <a:endParaRPr lang="en-US" sz="1400" dirty="0"/>
          </a:p>
          <a:p>
            <a:pPr marL="228600" indent="-228600">
              <a:buSzPct val="100000"/>
              <a:buChar char="•"/>
            </a:pPr>
            <a:r>
              <a:rPr lang="en-US" sz="1400" dirty="0">
                <a:solidFill>
                  <a:schemeClr val="tx2"/>
                </a:solidFill>
              </a:rPr>
              <a:t>“(Reuters)” tag removed so the model can’t cheat</a:t>
            </a:r>
            <a:endParaRPr lang="en-US" sz="1400" dirty="0"/>
          </a:p>
          <a:p>
            <a:pPr marL="228600" indent="-228600">
              <a:buSzPct val="100000"/>
              <a:buChar char="•"/>
            </a:pPr>
            <a:r>
              <a:rPr lang="en-US" sz="1400" dirty="0">
                <a:solidFill>
                  <a:schemeClr val="tx2"/>
                </a:solidFill>
              </a:rPr>
              <a:t>80% training / 20% testing split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Project Workflow</a:t>
            </a:r>
            <a:endParaRPr lang="en-US" sz="3200" dirty="0"/>
          </a:p>
        </p:txBody>
      </p:sp>
      <p:sp>
        <p:nvSpPr>
          <p:cNvPr id="3" name="Step 1 circle"/>
          <p:cNvSpPr/>
          <p:nvPr/>
        </p:nvSpPr>
        <p:spPr>
          <a:xfrm>
            <a:off x="731520" y="1234440"/>
            <a:ext cx="640080" cy="640080"/>
          </a:xfrm>
          <a:prstGeom prst="ellipse">
            <a:avLst/>
          </a:prstGeom>
          <a:solidFill>
            <a:schemeClr val="accent3"/>
          </a:solidFill>
          <a:ln/>
        </p:spPr>
      </p:sp>
      <p:pic>
        <p:nvPicPr>
          <p:cNvPr id="4" name="Step 1 icon" descr="Step 1">    </p:cNvPr>
          <p:cNvPicPr>
            <a:picLocks noChangeAspect="1"/>
          </p:cNvPicPr>
          <p:nvPr/>
        </p:nvPicPr>
        <p:blipFill>
          <a:blip r:embed="rId1"/>
          <a:stretch>
            <a:fillRect/>
          </a:stretch>
        </p:blipFill>
        <p:spPr>
          <a:xfrm>
            <a:off x="891540" y="1394460"/>
            <a:ext cx="320040" cy="320040"/>
          </a:xfrm>
          <a:prstGeom prst="rect">
            <a:avLst/>
          </a:prstGeom>
        </p:spPr>
      </p:pic>
      <p:sp>
        <p:nvSpPr>
          <p:cNvPr id="5" name="Arrow 1"/>
          <p:cNvSpPr/>
          <p:nvPr/>
        </p:nvSpPr>
        <p:spPr>
          <a:xfrm>
            <a:off x="1444752" y="1554480"/>
            <a:ext cx="621792" cy="0"/>
          </a:xfrm>
          <a:prstGeom prst="line">
            <a:avLst/>
          </a:prstGeom>
          <a:noFill/>
          <a:ln w="19050">
            <a:solidFill>
              <a:srgbClr val="9AA5B1"/>
            </a:solidFill>
            <a:prstDash val="solid"/>
            <a:tailEnd type="triangle"/>
          </a:ln>
        </p:spPr>
      </p:sp>
      <p:sp>
        <p:nvSpPr>
          <p:cNvPr id="6" name="Text 3"/>
          <p:cNvSpPr txBox="1"/>
          <p:nvPr/>
        </p:nvSpPr>
        <p:spPr>
          <a:xfrm>
            <a:off x="457200" y="2011680"/>
            <a:ext cx="1188720" cy="548640"/>
          </a:xfrm>
          <a:prstGeom prst="rect">
            <a:avLst/>
          </a:prstGeom>
          <a:noFill/>
          <a:ln/>
        </p:spPr>
        <p:txBody>
          <a:bodyPr wrap="square" lIns="0" tIns="0" rIns="0" bIns="0" rtlCol="0" anchor="t"/>
          <a:lstStyle/>
          <a:p>
            <a:pPr algn="ctr" indent="0" marL="0">
              <a:buNone/>
            </a:pPr>
            <a:r>
              <a:rPr lang="en-US" sz="1400" b="1" dirty="0">
                <a:solidFill>
                  <a:schemeClr val="tx1"/>
                </a:solidFill>
              </a:rPr>
              <a:t>1. Data Collection</a:t>
            </a:r>
            <a:endParaRPr lang="en-US" sz="1400" dirty="0"/>
          </a:p>
        </p:txBody>
      </p:sp>
      <p:sp>
        <p:nvSpPr>
          <p:cNvPr id="7" name="Text 4"/>
          <p:cNvSpPr txBox="1"/>
          <p:nvPr/>
        </p:nvSpPr>
        <p:spPr>
          <a:xfrm>
            <a:off x="457200" y="2606040"/>
            <a:ext cx="1188720" cy="1005840"/>
          </a:xfrm>
          <a:prstGeom prst="rect">
            <a:avLst/>
          </a:prstGeom>
          <a:noFill/>
          <a:ln/>
        </p:spPr>
        <p:txBody>
          <a:bodyPr wrap="square" lIns="0" tIns="0" rIns="0" bIns="0" rtlCol="0" anchor="t"/>
          <a:lstStyle/>
          <a:p>
            <a:pPr algn="ctr" indent="0" marL="0">
              <a:buNone/>
            </a:pPr>
            <a:r>
              <a:rPr lang="en-US" sz="1200" dirty="0">
                <a:solidFill>
                  <a:schemeClr val="tx2"/>
                </a:solidFill>
              </a:rPr>
              <a:t>Kaggle news dataset with REAL / FAKE labels</a:t>
            </a:r>
            <a:endParaRPr lang="en-US" sz="1200" dirty="0"/>
          </a:p>
        </p:txBody>
      </p:sp>
      <p:sp>
        <p:nvSpPr>
          <p:cNvPr id="8" name="Step 2 circle"/>
          <p:cNvSpPr/>
          <p:nvPr/>
        </p:nvSpPr>
        <p:spPr>
          <a:xfrm>
            <a:off x="2139696" y="1234440"/>
            <a:ext cx="640080" cy="640080"/>
          </a:xfrm>
          <a:prstGeom prst="ellipse">
            <a:avLst/>
          </a:prstGeom>
          <a:solidFill>
            <a:schemeClr val="accent3"/>
          </a:solidFill>
          <a:ln/>
        </p:spPr>
      </p:sp>
      <p:pic>
        <p:nvPicPr>
          <p:cNvPr id="9" name="Step 2 icon" descr="Step 2">    </p:cNvPr>
          <p:cNvPicPr>
            <a:picLocks noChangeAspect="1"/>
          </p:cNvPicPr>
          <p:nvPr/>
        </p:nvPicPr>
        <p:blipFill>
          <a:blip r:embed="rId2"/>
          <a:stretch>
            <a:fillRect/>
          </a:stretch>
        </p:blipFill>
        <p:spPr>
          <a:xfrm>
            <a:off x="2299716" y="1394460"/>
            <a:ext cx="320040" cy="320040"/>
          </a:xfrm>
          <a:prstGeom prst="rect">
            <a:avLst/>
          </a:prstGeom>
        </p:spPr>
      </p:pic>
      <p:sp>
        <p:nvSpPr>
          <p:cNvPr id="10" name="Arrow 2"/>
          <p:cNvSpPr/>
          <p:nvPr/>
        </p:nvSpPr>
        <p:spPr>
          <a:xfrm>
            <a:off x="2852928" y="1554480"/>
            <a:ext cx="621792" cy="0"/>
          </a:xfrm>
          <a:prstGeom prst="line">
            <a:avLst/>
          </a:prstGeom>
          <a:noFill/>
          <a:ln w="19050">
            <a:solidFill>
              <a:srgbClr val="9AA5B1"/>
            </a:solidFill>
            <a:prstDash val="solid"/>
            <a:tailEnd type="triangle"/>
          </a:ln>
        </p:spPr>
      </p:sp>
      <p:sp>
        <p:nvSpPr>
          <p:cNvPr id="11" name="Text 7"/>
          <p:cNvSpPr txBox="1"/>
          <p:nvPr/>
        </p:nvSpPr>
        <p:spPr>
          <a:xfrm>
            <a:off x="1865376" y="2011680"/>
            <a:ext cx="1188720" cy="548640"/>
          </a:xfrm>
          <a:prstGeom prst="rect">
            <a:avLst/>
          </a:prstGeom>
          <a:noFill/>
          <a:ln/>
        </p:spPr>
        <p:txBody>
          <a:bodyPr wrap="square" lIns="0" tIns="0" rIns="0" bIns="0" rtlCol="0" anchor="t"/>
          <a:lstStyle/>
          <a:p>
            <a:pPr algn="ctr" indent="0" marL="0">
              <a:buNone/>
            </a:pPr>
            <a:r>
              <a:rPr lang="en-US" sz="1400" b="1" dirty="0">
                <a:solidFill>
                  <a:schemeClr val="tx1"/>
                </a:solidFill>
              </a:rPr>
              <a:t>2. Pre-processing</a:t>
            </a:r>
            <a:endParaRPr lang="en-US" sz="1400" dirty="0"/>
          </a:p>
        </p:txBody>
      </p:sp>
      <p:sp>
        <p:nvSpPr>
          <p:cNvPr id="12" name="Text 8"/>
          <p:cNvSpPr txBox="1"/>
          <p:nvPr/>
        </p:nvSpPr>
        <p:spPr>
          <a:xfrm>
            <a:off x="1865376" y="2606040"/>
            <a:ext cx="1188720" cy="1005840"/>
          </a:xfrm>
          <a:prstGeom prst="rect">
            <a:avLst/>
          </a:prstGeom>
          <a:noFill/>
          <a:ln/>
        </p:spPr>
        <p:txBody>
          <a:bodyPr wrap="square" lIns="0" tIns="0" rIns="0" bIns="0" rtlCol="0" anchor="t"/>
          <a:lstStyle/>
          <a:p>
            <a:pPr algn="ctr" indent="0" marL="0">
              <a:buNone/>
            </a:pPr>
            <a:r>
              <a:rPr lang="en-US" sz="1200" dirty="0">
                <a:solidFill>
                  <a:schemeClr val="tx2"/>
                </a:solidFill>
              </a:rPr>
              <a:t>Lowercase, remove links, punctuation, numbers</a:t>
            </a:r>
            <a:endParaRPr lang="en-US" sz="1200" dirty="0"/>
          </a:p>
        </p:txBody>
      </p:sp>
      <p:sp>
        <p:nvSpPr>
          <p:cNvPr id="13" name="Step 3 circle"/>
          <p:cNvSpPr/>
          <p:nvPr/>
        </p:nvSpPr>
        <p:spPr>
          <a:xfrm>
            <a:off x="3547872" y="1234440"/>
            <a:ext cx="640080" cy="640080"/>
          </a:xfrm>
          <a:prstGeom prst="ellipse">
            <a:avLst/>
          </a:prstGeom>
          <a:solidFill>
            <a:schemeClr val="accent3"/>
          </a:solidFill>
          <a:ln/>
        </p:spPr>
      </p:sp>
      <p:pic>
        <p:nvPicPr>
          <p:cNvPr id="14" name="Step 3 icon" descr="Step 3">    </p:cNvPr>
          <p:cNvPicPr>
            <a:picLocks noChangeAspect="1"/>
          </p:cNvPicPr>
          <p:nvPr/>
        </p:nvPicPr>
        <p:blipFill>
          <a:blip r:embed="rId3"/>
          <a:stretch>
            <a:fillRect/>
          </a:stretch>
        </p:blipFill>
        <p:spPr>
          <a:xfrm>
            <a:off x="3707892" y="1394460"/>
            <a:ext cx="320040" cy="320040"/>
          </a:xfrm>
          <a:prstGeom prst="rect">
            <a:avLst/>
          </a:prstGeom>
        </p:spPr>
      </p:pic>
      <p:sp>
        <p:nvSpPr>
          <p:cNvPr id="15" name="Arrow 3"/>
          <p:cNvSpPr/>
          <p:nvPr/>
        </p:nvSpPr>
        <p:spPr>
          <a:xfrm>
            <a:off x="4261104" y="1554480"/>
            <a:ext cx="621792" cy="0"/>
          </a:xfrm>
          <a:prstGeom prst="line">
            <a:avLst/>
          </a:prstGeom>
          <a:noFill/>
          <a:ln w="19050">
            <a:solidFill>
              <a:srgbClr val="9AA5B1"/>
            </a:solidFill>
            <a:prstDash val="solid"/>
            <a:tailEnd type="triangle"/>
          </a:ln>
        </p:spPr>
      </p:sp>
      <p:sp>
        <p:nvSpPr>
          <p:cNvPr id="16" name="Text 11"/>
          <p:cNvSpPr txBox="1"/>
          <p:nvPr/>
        </p:nvSpPr>
        <p:spPr>
          <a:xfrm>
            <a:off x="3273552" y="2011680"/>
            <a:ext cx="1188720" cy="548640"/>
          </a:xfrm>
          <a:prstGeom prst="rect">
            <a:avLst/>
          </a:prstGeom>
          <a:noFill/>
          <a:ln/>
        </p:spPr>
        <p:txBody>
          <a:bodyPr wrap="square" lIns="0" tIns="0" rIns="0" bIns="0" rtlCol="0" anchor="t"/>
          <a:lstStyle/>
          <a:p>
            <a:pPr algn="ctr" indent="0" marL="0">
              <a:buNone/>
            </a:pPr>
            <a:r>
              <a:rPr lang="en-US" sz="1400" b="1" dirty="0">
                <a:solidFill>
                  <a:schemeClr val="tx1"/>
                </a:solidFill>
              </a:rPr>
              <a:t>3. TF-IDF Features</a:t>
            </a:r>
            <a:endParaRPr lang="en-US" sz="1400" dirty="0"/>
          </a:p>
        </p:txBody>
      </p:sp>
      <p:sp>
        <p:nvSpPr>
          <p:cNvPr id="17" name="Text 12"/>
          <p:cNvSpPr txBox="1"/>
          <p:nvPr/>
        </p:nvSpPr>
        <p:spPr>
          <a:xfrm>
            <a:off x="3273552" y="2606040"/>
            <a:ext cx="1188720" cy="1005840"/>
          </a:xfrm>
          <a:prstGeom prst="rect">
            <a:avLst/>
          </a:prstGeom>
          <a:noFill/>
          <a:ln/>
        </p:spPr>
        <p:txBody>
          <a:bodyPr wrap="square" lIns="0" tIns="0" rIns="0" bIns="0" rtlCol="0" anchor="t"/>
          <a:lstStyle/>
          <a:p>
            <a:pPr algn="ctr" indent="0" marL="0">
              <a:buNone/>
            </a:pPr>
            <a:r>
              <a:rPr lang="en-US" sz="1200" dirty="0">
                <a:solidFill>
                  <a:schemeClr val="tx2"/>
                </a:solidFill>
              </a:rPr>
              <a:t>Turn words into numeric feature vectors</a:t>
            </a:r>
            <a:endParaRPr lang="en-US" sz="1200" dirty="0"/>
          </a:p>
        </p:txBody>
      </p:sp>
      <p:sp>
        <p:nvSpPr>
          <p:cNvPr id="18" name="Step 4 circle"/>
          <p:cNvSpPr/>
          <p:nvPr/>
        </p:nvSpPr>
        <p:spPr>
          <a:xfrm>
            <a:off x="4956048" y="1234440"/>
            <a:ext cx="640080" cy="640080"/>
          </a:xfrm>
          <a:prstGeom prst="ellipse">
            <a:avLst/>
          </a:prstGeom>
          <a:solidFill>
            <a:schemeClr val="accent3"/>
          </a:solidFill>
          <a:ln/>
        </p:spPr>
      </p:sp>
      <p:pic>
        <p:nvPicPr>
          <p:cNvPr id="19" name="Step 4 icon" descr="Step 4">    </p:cNvPr>
          <p:cNvPicPr>
            <a:picLocks noChangeAspect="1"/>
          </p:cNvPicPr>
          <p:nvPr/>
        </p:nvPicPr>
        <p:blipFill>
          <a:blip r:embed="rId4"/>
          <a:stretch>
            <a:fillRect/>
          </a:stretch>
        </p:blipFill>
        <p:spPr>
          <a:xfrm>
            <a:off x="5116068" y="1394460"/>
            <a:ext cx="320040" cy="320040"/>
          </a:xfrm>
          <a:prstGeom prst="rect">
            <a:avLst/>
          </a:prstGeom>
        </p:spPr>
      </p:pic>
      <p:sp>
        <p:nvSpPr>
          <p:cNvPr id="20" name="Arrow 4"/>
          <p:cNvSpPr/>
          <p:nvPr/>
        </p:nvSpPr>
        <p:spPr>
          <a:xfrm>
            <a:off x="5669280" y="1554480"/>
            <a:ext cx="621792" cy="0"/>
          </a:xfrm>
          <a:prstGeom prst="line">
            <a:avLst/>
          </a:prstGeom>
          <a:noFill/>
          <a:ln w="19050">
            <a:solidFill>
              <a:srgbClr val="9AA5B1"/>
            </a:solidFill>
            <a:prstDash val="solid"/>
            <a:tailEnd type="triangle"/>
          </a:ln>
        </p:spPr>
      </p:sp>
      <p:sp>
        <p:nvSpPr>
          <p:cNvPr id="21" name="Text 15"/>
          <p:cNvSpPr txBox="1"/>
          <p:nvPr/>
        </p:nvSpPr>
        <p:spPr>
          <a:xfrm>
            <a:off x="4681728" y="2011680"/>
            <a:ext cx="1188720" cy="548640"/>
          </a:xfrm>
          <a:prstGeom prst="rect">
            <a:avLst/>
          </a:prstGeom>
          <a:noFill/>
          <a:ln/>
        </p:spPr>
        <p:txBody>
          <a:bodyPr wrap="square" lIns="0" tIns="0" rIns="0" bIns="0" rtlCol="0" anchor="t"/>
          <a:lstStyle/>
          <a:p>
            <a:pPr algn="ctr" indent="0" marL="0">
              <a:buNone/>
            </a:pPr>
            <a:r>
              <a:rPr lang="en-US" sz="1400" b="1" dirty="0">
                <a:solidFill>
                  <a:schemeClr val="tx1"/>
                </a:solidFill>
              </a:rPr>
              <a:t>4. Tuning</a:t>
            </a:r>
            <a:endParaRPr lang="en-US" sz="1400" dirty="0"/>
          </a:p>
        </p:txBody>
      </p:sp>
      <p:sp>
        <p:nvSpPr>
          <p:cNvPr id="22" name="Text 16"/>
          <p:cNvSpPr txBox="1"/>
          <p:nvPr/>
        </p:nvSpPr>
        <p:spPr>
          <a:xfrm>
            <a:off x="4681728" y="2606040"/>
            <a:ext cx="1188720" cy="1005840"/>
          </a:xfrm>
          <a:prstGeom prst="rect">
            <a:avLst/>
          </a:prstGeom>
          <a:noFill/>
          <a:ln/>
        </p:spPr>
        <p:txBody>
          <a:bodyPr wrap="square" lIns="0" tIns="0" rIns="0" bIns="0" rtlCol="0" anchor="t"/>
          <a:lstStyle/>
          <a:p>
            <a:pPr algn="ctr" indent="0" marL="0">
              <a:buNone/>
            </a:pPr>
            <a:r>
              <a:rPr lang="en-US" sz="1200" dirty="0">
                <a:solidFill>
                  <a:schemeClr val="tx2"/>
                </a:solidFill>
              </a:rPr>
              <a:t>GridSearchCV finds the best hyperparameters</a:t>
            </a:r>
            <a:endParaRPr lang="en-US" sz="1200" dirty="0"/>
          </a:p>
        </p:txBody>
      </p:sp>
      <p:sp>
        <p:nvSpPr>
          <p:cNvPr id="23" name="Step 5 circle"/>
          <p:cNvSpPr/>
          <p:nvPr/>
        </p:nvSpPr>
        <p:spPr>
          <a:xfrm>
            <a:off x="6364224" y="1234440"/>
            <a:ext cx="640080" cy="640080"/>
          </a:xfrm>
          <a:prstGeom prst="ellipse">
            <a:avLst/>
          </a:prstGeom>
          <a:solidFill>
            <a:schemeClr val="accent3"/>
          </a:solidFill>
          <a:ln/>
        </p:spPr>
      </p:sp>
      <p:pic>
        <p:nvPicPr>
          <p:cNvPr id="24" name="Step 5 icon" descr="Step 5">    </p:cNvPr>
          <p:cNvPicPr>
            <a:picLocks noChangeAspect="1"/>
          </p:cNvPicPr>
          <p:nvPr/>
        </p:nvPicPr>
        <p:blipFill>
          <a:blip r:embed="rId5"/>
          <a:stretch>
            <a:fillRect/>
          </a:stretch>
        </p:blipFill>
        <p:spPr>
          <a:xfrm>
            <a:off x="6524244" y="1394460"/>
            <a:ext cx="320040" cy="320040"/>
          </a:xfrm>
          <a:prstGeom prst="rect">
            <a:avLst/>
          </a:prstGeom>
        </p:spPr>
      </p:pic>
      <p:sp>
        <p:nvSpPr>
          <p:cNvPr id="25" name="Arrow 5"/>
          <p:cNvSpPr/>
          <p:nvPr/>
        </p:nvSpPr>
        <p:spPr>
          <a:xfrm>
            <a:off x="7077456" y="1554480"/>
            <a:ext cx="621792" cy="0"/>
          </a:xfrm>
          <a:prstGeom prst="line">
            <a:avLst/>
          </a:prstGeom>
          <a:noFill/>
          <a:ln w="19050">
            <a:solidFill>
              <a:srgbClr val="9AA5B1"/>
            </a:solidFill>
            <a:prstDash val="solid"/>
            <a:tailEnd type="triangle"/>
          </a:ln>
        </p:spPr>
      </p:sp>
      <p:sp>
        <p:nvSpPr>
          <p:cNvPr id="26" name="Text 19"/>
          <p:cNvSpPr txBox="1"/>
          <p:nvPr/>
        </p:nvSpPr>
        <p:spPr>
          <a:xfrm>
            <a:off x="6089904" y="2011680"/>
            <a:ext cx="1188720" cy="548640"/>
          </a:xfrm>
          <a:prstGeom prst="rect">
            <a:avLst/>
          </a:prstGeom>
          <a:noFill/>
          <a:ln/>
        </p:spPr>
        <p:txBody>
          <a:bodyPr wrap="square" lIns="0" tIns="0" rIns="0" bIns="0" rtlCol="0" anchor="t"/>
          <a:lstStyle/>
          <a:p>
            <a:pPr algn="ctr" indent="0" marL="0">
              <a:buNone/>
            </a:pPr>
            <a:r>
              <a:rPr lang="en-US" sz="1400" b="1" dirty="0">
                <a:solidFill>
                  <a:schemeClr val="tx1"/>
                </a:solidFill>
              </a:rPr>
              <a:t>5. Training</a:t>
            </a:r>
            <a:endParaRPr lang="en-US" sz="1400" dirty="0"/>
          </a:p>
        </p:txBody>
      </p:sp>
      <p:sp>
        <p:nvSpPr>
          <p:cNvPr id="27" name="Text 20"/>
          <p:cNvSpPr txBox="1"/>
          <p:nvPr/>
        </p:nvSpPr>
        <p:spPr>
          <a:xfrm>
            <a:off x="6089904" y="2606040"/>
            <a:ext cx="1188720" cy="1005840"/>
          </a:xfrm>
          <a:prstGeom prst="rect">
            <a:avLst/>
          </a:prstGeom>
          <a:noFill/>
          <a:ln/>
        </p:spPr>
        <p:txBody>
          <a:bodyPr wrap="square" lIns="0" tIns="0" rIns="0" bIns="0" rtlCol="0" anchor="t"/>
          <a:lstStyle/>
          <a:p>
            <a:pPr algn="ctr" indent="0" marL="0">
              <a:buNone/>
            </a:pPr>
            <a:r>
              <a:rPr lang="en-US" sz="1200" dirty="0">
                <a:solidFill>
                  <a:schemeClr val="tx2"/>
                </a:solidFill>
              </a:rPr>
              <a:t>5 models trained and checked with 5-fold CV</a:t>
            </a:r>
            <a:endParaRPr lang="en-US" sz="1200" dirty="0"/>
          </a:p>
        </p:txBody>
      </p:sp>
      <p:sp>
        <p:nvSpPr>
          <p:cNvPr id="28" name="Step 6 circle"/>
          <p:cNvSpPr/>
          <p:nvPr/>
        </p:nvSpPr>
        <p:spPr>
          <a:xfrm>
            <a:off x="7772400" y="1234440"/>
            <a:ext cx="640080" cy="640080"/>
          </a:xfrm>
          <a:prstGeom prst="ellipse">
            <a:avLst/>
          </a:prstGeom>
          <a:solidFill>
            <a:schemeClr val="accent1"/>
          </a:solidFill>
          <a:ln/>
        </p:spPr>
      </p:sp>
      <p:pic>
        <p:nvPicPr>
          <p:cNvPr id="29" name="Step 6 icon" descr="Step 6">    </p:cNvPr>
          <p:cNvPicPr>
            <a:picLocks noChangeAspect="1"/>
          </p:cNvPicPr>
          <p:nvPr/>
        </p:nvPicPr>
        <p:blipFill>
          <a:blip r:embed="rId6"/>
          <a:stretch>
            <a:fillRect/>
          </a:stretch>
        </p:blipFill>
        <p:spPr>
          <a:xfrm>
            <a:off x="7932420" y="1394460"/>
            <a:ext cx="320040" cy="320040"/>
          </a:xfrm>
          <a:prstGeom prst="rect">
            <a:avLst/>
          </a:prstGeom>
        </p:spPr>
      </p:pic>
      <p:sp>
        <p:nvSpPr>
          <p:cNvPr id="30" name="Text 22"/>
          <p:cNvSpPr txBox="1"/>
          <p:nvPr/>
        </p:nvSpPr>
        <p:spPr>
          <a:xfrm>
            <a:off x="7498080" y="2011680"/>
            <a:ext cx="1188720" cy="548640"/>
          </a:xfrm>
          <a:prstGeom prst="rect">
            <a:avLst/>
          </a:prstGeom>
          <a:noFill/>
          <a:ln/>
        </p:spPr>
        <p:txBody>
          <a:bodyPr wrap="square" lIns="0" tIns="0" rIns="0" bIns="0" rtlCol="0" anchor="t"/>
          <a:lstStyle/>
          <a:p>
            <a:pPr algn="ctr" indent="0" marL="0">
              <a:buNone/>
            </a:pPr>
            <a:r>
              <a:rPr lang="en-US" sz="1400" b="1" dirty="0">
                <a:solidFill>
                  <a:schemeClr val="tx1"/>
                </a:solidFill>
              </a:rPr>
              <a:t>6. Evaluate &amp; Deploy</a:t>
            </a:r>
            <a:endParaRPr lang="en-US" sz="1400" dirty="0"/>
          </a:p>
        </p:txBody>
      </p:sp>
      <p:sp>
        <p:nvSpPr>
          <p:cNvPr id="31" name="Text 23"/>
          <p:cNvSpPr txBox="1"/>
          <p:nvPr/>
        </p:nvSpPr>
        <p:spPr>
          <a:xfrm>
            <a:off x="7498080" y="2606040"/>
            <a:ext cx="1188720" cy="1005840"/>
          </a:xfrm>
          <a:prstGeom prst="rect">
            <a:avLst/>
          </a:prstGeom>
          <a:noFill/>
          <a:ln/>
        </p:spPr>
        <p:txBody>
          <a:bodyPr wrap="square" lIns="0" tIns="0" rIns="0" bIns="0" rtlCol="0" anchor="t"/>
          <a:lstStyle/>
          <a:p>
            <a:pPr algn="ctr" indent="0" marL="0">
              <a:buNone/>
            </a:pPr>
            <a:r>
              <a:rPr lang="en-US" sz="1200" dirty="0">
                <a:solidFill>
                  <a:schemeClr val="tx2"/>
                </a:solidFill>
              </a:rPr>
              <a:t>Best model saved and used in a Streamlit app</a:t>
            </a:r>
            <a:endParaRPr lang="en-US" sz="1200" dirty="0"/>
          </a:p>
        </p:txBody>
      </p:sp>
      <p:sp>
        <p:nvSpPr>
          <p:cNvPr id="32" name="Tools panel"/>
          <p:cNvSpPr/>
          <p:nvPr/>
        </p:nvSpPr>
        <p:spPr>
          <a:xfrm>
            <a:off x="457200" y="3840480"/>
            <a:ext cx="8229600" cy="68580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33" name="Text 25"/>
          <p:cNvSpPr txBox="1"/>
          <p:nvPr/>
        </p:nvSpPr>
        <p:spPr>
          <a:xfrm>
            <a:off x="685800" y="3840480"/>
            <a:ext cx="7772400" cy="685800"/>
          </a:xfrm>
          <a:prstGeom prst="rect">
            <a:avLst/>
          </a:prstGeom>
          <a:noFill/>
          <a:ln/>
        </p:spPr>
        <p:txBody>
          <a:bodyPr wrap="square" lIns="0" tIns="0" rIns="0" bIns="0" rtlCol="0" anchor="ctr"/>
          <a:lstStyle/>
          <a:p>
            <a:pPr indent="0" marL="0">
              <a:buNone/>
            </a:pPr>
            <a:r>
              <a:rPr lang="en-US" sz="1500" b="1" dirty="0">
                <a:solidFill>
                  <a:schemeClr val="tx1"/>
                </a:solidFill>
              </a:rPr>
              <a:t>Tools used:  </a:t>
            </a:r>
            <a:pPr indent="0" marL="0">
              <a:buNone/>
            </a:pPr>
            <a:r>
              <a:rPr lang="en-US" sz="1500" dirty="0">
                <a:solidFill>
                  <a:schemeClr val="tx2"/>
                </a:solidFill>
              </a:rPr>
              <a:t>Python  ·  pandas  ·  scikit-learn  ·  matplotlib  ·  seaborn  ·  joblib  ·  Streamlit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Text Pre-processing</a:t>
            </a:r>
            <a:endParaRPr lang="en-US" sz="3200" dirty="0"/>
          </a:p>
        </p:txBody>
      </p:sp>
      <p:sp>
        <p:nvSpPr>
          <p:cNvPr id="3" name="Text 1"/>
          <p:cNvSpPr txBox="1"/>
          <p:nvPr/>
        </p:nvSpPr>
        <p:spPr>
          <a:xfrm>
            <a:off x="457200" y="1234440"/>
            <a:ext cx="3931920" cy="3200400"/>
          </a:xfrm>
          <a:prstGeom prst="rect">
            <a:avLst/>
          </a:prstGeom>
          <a:noFill/>
          <a:ln/>
        </p:spPr>
        <p:txBody>
          <a:bodyPr wrap="square" lIns="0" tIns="0" rIns="0" bIns="0" rtlCol="0" anchor="t"/>
          <a:lstStyle/>
          <a:p>
            <a:pPr marL="279400" indent="-279400">
              <a:spcAft>
                <a:spcPts val="1000"/>
              </a:spcAft>
              <a:buSzPct val="100000"/>
              <a:buFont typeface="+mj-lt"/>
              <a:buAutoNum type="arabicPeriod" startAt="1"/>
            </a:pPr>
            <a:r>
              <a:rPr lang="en-US" sz="1600" dirty="0">
                <a:solidFill>
                  <a:schemeClr val="tx1"/>
                </a:solidFill>
              </a:rPr>
              <a:t>Convert to lowercase</a:t>
            </a:r>
            <a:endParaRPr lang="en-US" sz="1600" dirty="0"/>
          </a:p>
          <a:p>
            <a:pPr marL="279400" indent="-279400">
              <a:spcAft>
                <a:spcPts val="1000"/>
              </a:spcAft>
              <a:buSzPct val="100000"/>
              <a:buFont typeface="+mj-lt"/>
              <a:buAutoNum type="arabicPeriod" startAt="1"/>
            </a:pPr>
            <a:r>
              <a:rPr lang="en-US" sz="1600" dirty="0">
                <a:solidFill>
                  <a:schemeClr val="tx1"/>
                </a:solidFill>
              </a:rPr>
              <a:t>Remove links (URLs)</a:t>
            </a:r>
            <a:endParaRPr lang="en-US" sz="1600" dirty="0"/>
          </a:p>
          <a:p>
            <a:pPr marL="279400" indent="-279400">
              <a:spcAft>
                <a:spcPts val="1000"/>
              </a:spcAft>
              <a:buSzPct val="100000"/>
              <a:buFont typeface="+mj-lt"/>
              <a:buAutoNum type="arabicPeriod" startAt="1"/>
            </a:pPr>
            <a:r>
              <a:rPr lang="en-US" sz="1600" dirty="0">
                <a:solidFill>
                  <a:schemeClr val="tx1"/>
                </a:solidFill>
              </a:rPr>
              <a:t>Remove HTML tags</a:t>
            </a:r>
            <a:endParaRPr lang="en-US" sz="1600" dirty="0"/>
          </a:p>
          <a:p>
            <a:pPr marL="279400" indent="-279400">
              <a:spcAft>
                <a:spcPts val="1000"/>
              </a:spcAft>
              <a:buSzPct val="100000"/>
              <a:buFont typeface="+mj-lt"/>
              <a:buAutoNum type="arabicPeriod" startAt="1"/>
            </a:pPr>
            <a:r>
              <a:rPr lang="en-US" sz="1600" dirty="0">
                <a:solidFill>
                  <a:schemeClr val="tx1"/>
                </a:solidFill>
              </a:rPr>
              <a:t>Remove punctuation and numbers</a:t>
            </a:r>
            <a:endParaRPr lang="en-US" sz="1600" dirty="0"/>
          </a:p>
          <a:p>
            <a:pPr marL="279400" indent="-279400">
              <a:spcAft>
                <a:spcPts val="1000"/>
              </a:spcAft>
              <a:buSzPct val="100000"/>
              <a:buFont typeface="+mj-lt"/>
              <a:buAutoNum type="arabicPeriod" startAt="1"/>
            </a:pPr>
            <a:r>
              <a:rPr lang="en-US" sz="1600" dirty="0">
                <a:solidFill>
                  <a:schemeClr val="tx1"/>
                </a:solidFill>
              </a:rPr>
              <a:t>Remove extra spaces</a:t>
            </a:r>
            <a:endParaRPr lang="en-US" sz="1600" dirty="0"/>
          </a:p>
          <a:p>
            <a:pPr marL="279400" indent="-279400">
              <a:spcAft>
                <a:spcPts val="1000"/>
              </a:spcAft>
              <a:buSzPct val="100000"/>
              <a:buFont typeface="+mj-lt"/>
              <a:buAutoNum type="arabicPeriod" startAt="1"/>
            </a:pPr>
            <a:r>
              <a:rPr lang="en-US" sz="1600" dirty="0">
                <a:solidFill>
                  <a:schemeClr val="tx1"/>
                </a:solidFill>
              </a:rPr>
              <a:t>Remove stop words (the, is, and …) inside TF-IDF</a:t>
            </a:r>
            <a:endParaRPr lang="en-US" sz="1600" dirty="0"/>
          </a:p>
        </p:txBody>
      </p:sp>
      <p:sp>
        <p:nvSpPr>
          <p:cNvPr id="4" name="Text 2"/>
          <p:cNvSpPr txBox="1"/>
          <p:nvPr/>
        </p:nvSpPr>
        <p:spPr>
          <a:xfrm>
            <a:off x="4754880" y="1188720"/>
            <a:ext cx="18288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BEFORE</a:t>
            </a:r>
            <a:endParaRPr lang="en-US" sz="1200" dirty="0"/>
          </a:p>
        </p:txBody>
      </p:sp>
      <p:sp>
        <p:nvSpPr>
          <p:cNvPr id="5" name="Before card"/>
          <p:cNvSpPr/>
          <p:nvPr/>
        </p:nvSpPr>
        <p:spPr>
          <a:xfrm>
            <a:off x="4754880" y="1508760"/>
            <a:ext cx="3931920" cy="100584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6" name="Text 4"/>
          <p:cNvSpPr txBox="1"/>
          <p:nvPr/>
        </p:nvSpPr>
        <p:spPr>
          <a:xfrm>
            <a:off x="4892040" y="1508760"/>
            <a:ext cx="3657600" cy="100584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SHOCKING!!! Doctors HATE this trick: read more at http://fake.ly/x123 &lt;b&gt;NOW&lt;/b&gt;</a:t>
            </a:r>
            <a:endParaRPr lang="en-US" sz="1300" dirty="0"/>
          </a:p>
        </p:txBody>
      </p:sp>
      <p:sp>
        <p:nvSpPr>
          <p:cNvPr id="7" name="Before to after arrow"/>
          <p:cNvSpPr/>
          <p:nvPr/>
        </p:nvSpPr>
        <p:spPr>
          <a:xfrm>
            <a:off x="6720840" y="2606040"/>
            <a:ext cx="0" cy="365760"/>
          </a:xfrm>
          <a:prstGeom prst="line">
            <a:avLst/>
          </a:prstGeom>
          <a:noFill/>
          <a:ln w="25400">
            <a:solidFill>
              <a:srgbClr val="9AA5B1"/>
            </a:solidFill>
            <a:prstDash val="solid"/>
            <a:tailEnd type="triangle"/>
          </a:ln>
        </p:spPr>
      </p:sp>
      <p:sp>
        <p:nvSpPr>
          <p:cNvPr id="8" name="Text 6"/>
          <p:cNvSpPr txBox="1"/>
          <p:nvPr/>
        </p:nvSpPr>
        <p:spPr>
          <a:xfrm>
            <a:off x="4754880" y="3017520"/>
            <a:ext cx="18288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AFTER</a:t>
            </a:r>
            <a:endParaRPr lang="en-US" sz="1200" dirty="0"/>
          </a:p>
        </p:txBody>
      </p:sp>
      <p:sp>
        <p:nvSpPr>
          <p:cNvPr id="9" name="After card"/>
          <p:cNvSpPr/>
          <p:nvPr/>
        </p:nvSpPr>
        <p:spPr>
          <a:xfrm>
            <a:off x="4754880" y="3337560"/>
            <a:ext cx="3931920" cy="82296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10" name="Text 8"/>
          <p:cNvSpPr txBox="1"/>
          <p:nvPr/>
        </p:nvSpPr>
        <p:spPr>
          <a:xfrm>
            <a:off x="4892040" y="3337560"/>
            <a:ext cx="3657600" cy="82296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shocking doctors hate this trick read more at now</a:t>
            </a:r>
            <a:endParaRPr lang="en-US" sz="1300" dirty="0"/>
          </a:p>
        </p:txBody>
      </p:sp>
      <p:sp>
        <p:nvSpPr>
          <p:cNvPr id="11" name="Text 9"/>
          <p:cNvSpPr txBox="1"/>
          <p:nvPr/>
        </p:nvSpPr>
        <p:spPr>
          <a:xfrm>
            <a:off x="4754880" y="4251960"/>
            <a:ext cx="3931920" cy="274320"/>
          </a:xfrm>
          <a:prstGeom prst="rect">
            <a:avLst/>
          </a:prstGeom>
          <a:noFill/>
          <a:ln/>
        </p:spPr>
        <p:txBody>
          <a:bodyPr wrap="square" lIns="0" tIns="0" rIns="0" bIns="0" rtlCol="0" anchor="ctr"/>
          <a:lstStyle/>
          <a:p>
            <a:pPr indent="0" marL="0">
              <a:buNone/>
            </a:pPr>
            <a:r>
              <a:rPr lang="en-US" sz="1000" dirty="0">
                <a:solidFill>
                  <a:schemeClr val="tx2"/>
                </a:solidFill>
              </a:rPr>
              <a:t>Real output of clean_text() in train.py</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Feature Extraction: TF-IDF</a:t>
            </a:r>
            <a:endParaRPr lang="en-US" sz="3200" dirty="0"/>
          </a:p>
        </p:txBody>
      </p:sp>
      <p:sp>
        <p:nvSpPr>
          <p:cNvPr id="3" name="Formula panel"/>
          <p:cNvSpPr/>
          <p:nvPr/>
        </p:nvSpPr>
        <p:spPr>
          <a:xfrm>
            <a:off x="457200" y="1143000"/>
            <a:ext cx="8229600" cy="822960"/>
          </a:xfrm>
          <a:prstGeom prst="rect">
            <a:avLst/>
          </a:prstGeom>
          <a:solidFill>
            <a:schemeClr val="tx1"/>
          </a:solidFill>
          <a:ln/>
          <a:effectLst>
            <a:outerShdw sx="100000" sy="100000" kx="0" ky="0" algn="bl" rotWithShape="0" blurRad="76200" dist="25400" dir="5400000">
              <a:srgbClr val="000000">
                <a:alpha val="12000"/>
              </a:srgbClr>
            </a:outerShdw>
          </a:effectLst>
        </p:spPr>
      </p:sp>
      <p:sp>
        <p:nvSpPr>
          <p:cNvPr id="4" name="Text 2"/>
          <p:cNvSpPr txBox="1"/>
          <p:nvPr/>
        </p:nvSpPr>
        <p:spPr>
          <a:xfrm>
            <a:off x="457200" y="1143000"/>
            <a:ext cx="8229600" cy="82296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TF-IDF (word, article)  =  TF  ×  log ( N / DF )</a:t>
            </a:r>
            <a:endParaRPr lang="en-US" sz="2400" dirty="0"/>
          </a:p>
        </p:txBody>
      </p:sp>
      <p:sp>
        <p:nvSpPr>
          <p:cNvPr id="5" name="Term Frequency (TF) card"/>
          <p:cNvSpPr/>
          <p:nvPr/>
        </p:nvSpPr>
        <p:spPr>
          <a:xfrm>
            <a:off x="457200" y="2194560"/>
            <a:ext cx="2560320" cy="146304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6" name="Text 4"/>
          <p:cNvSpPr txBox="1"/>
          <p:nvPr/>
        </p:nvSpPr>
        <p:spPr>
          <a:xfrm>
            <a:off x="640080" y="2286000"/>
            <a:ext cx="2240280" cy="502920"/>
          </a:xfrm>
          <a:prstGeom prst="rect">
            <a:avLst/>
          </a:prstGeom>
          <a:noFill/>
          <a:ln/>
        </p:spPr>
        <p:txBody>
          <a:bodyPr wrap="square" lIns="0" tIns="0" rIns="0" bIns="0" rtlCol="0" anchor="t"/>
          <a:lstStyle/>
          <a:p>
            <a:pPr indent="0" marL="0">
              <a:buNone/>
            </a:pPr>
            <a:r>
              <a:rPr lang="en-US" sz="1500" b="1" dirty="0">
                <a:solidFill>
                  <a:schemeClr val="accent3"/>
                </a:solidFill>
              </a:rPr>
              <a:t>Term Frequency (TF)</a:t>
            </a:r>
            <a:endParaRPr lang="en-US" sz="1500" dirty="0"/>
          </a:p>
        </p:txBody>
      </p:sp>
      <p:sp>
        <p:nvSpPr>
          <p:cNvPr id="7" name="Text 5"/>
          <p:cNvSpPr txBox="1"/>
          <p:nvPr/>
        </p:nvSpPr>
        <p:spPr>
          <a:xfrm>
            <a:off x="640080" y="2834640"/>
            <a:ext cx="2240280" cy="777240"/>
          </a:xfrm>
          <a:prstGeom prst="rect">
            <a:avLst/>
          </a:prstGeom>
          <a:noFill/>
          <a:ln/>
        </p:spPr>
        <p:txBody>
          <a:bodyPr wrap="square" lIns="0" tIns="0" rIns="0" bIns="0" rtlCol="0" anchor="t"/>
          <a:lstStyle/>
          <a:p>
            <a:pPr indent="0" marL="0">
              <a:buNone/>
            </a:pPr>
            <a:r>
              <a:rPr lang="en-US" sz="1400" dirty="0">
                <a:solidFill>
                  <a:schemeClr val="tx1"/>
                </a:solidFill>
              </a:rPr>
              <a:t>How often the word appears in this article</a:t>
            </a:r>
            <a:endParaRPr lang="en-US" sz="1400" dirty="0"/>
          </a:p>
        </p:txBody>
      </p:sp>
      <p:sp>
        <p:nvSpPr>
          <p:cNvPr id="8" name="Inverse Document Frequency (IDF) card"/>
          <p:cNvSpPr/>
          <p:nvPr/>
        </p:nvSpPr>
        <p:spPr>
          <a:xfrm>
            <a:off x="3291840" y="2194560"/>
            <a:ext cx="2560320" cy="146304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9" name="Text 7"/>
          <p:cNvSpPr txBox="1"/>
          <p:nvPr/>
        </p:nvSpPr>
        <p:spPr>
          <a:xfrm>
            <a:off x="3474720" y="2286000"/>
            <a:ext cx="2240280" cy="502920"/>
          </a:xfrm>
          <a:prstGeom prst="rect">
            <a:avLst/>
          </a:prstGeom>
          <a:noFill/>
          <a:ln/>
        </p:spPr>
        <p:txBody>
          <a:bodyPr wrap="square" lIns="0" tIns="0" rIns="0" bIns="0" rtlCol="0" anchor="t"/>
          <a:lstStyle/>
          <a:p>
            <a:pPr indent="0" marL="0">
              <a:buNone/>
            </a:pPr>
            <a:r>
              <a:rPr lang="en-US" sz="1500" b="1" dirty="0">
                <a:solidFill>
                  <a:schemeClr val="accent3"/>
                </a:solidFill>
              </a:rPr>
              <a:t>Inverse Document Frequency (IDF)</a:t>
            </a:r>
            <a:endParaRPr lang="en-US" sz="1500" dirty="0"/>
          </a:p>
        </p:txBody>
      </p:sp>
      <p:sp>
        <p:nvSpPr>
          <p:cNvPr id="10" name="Text 8"/>
          <p:cNvSpPr txBox="1"/>
          <p:nvPr/>
        </p:nvSpPr>
        <p:spPr>
          <a:xfrm>
            <a:off x="3474720" y="2834640"/>
            <a:ext cx="2240280" cy="777240"/>
          </a:xfrm>
          <a:prstGeom prst="rect">
            <a:avLst/>
          </a:prstGeom>
          <a:noFill/>
          <a:ln/>
        </p:spPr>
        <p:txBody>
          <a:bodyPr wrap="square" lIns="0" tIns="0" rIns="0" bIns="0" rtlCol="0" anchor="t"/>
          <a:lstStyle/>
          <a:p>
            <a:pPr indent="0" marL="0">
              <a:buNone/>
            </a:pPr>
            <a:r>
              <a:rPr lang="en-US" sz="1400" dirty="0">
                <a:solidFill>
                  <a:schemeClr val="tx1"/>
                </a:solidFill>
              </a:rPr>
              <a:t>How rare the word is across all N articles (DF = articles that contain it)</a:t>
            </a:r>
            <a:endParaRPr lang="en-US" sz="1400" dirty="0"/>
          </a:p>
        </p:txBody>
      </p:sp>
      <p:sp>
        <p:nvSpPr>
          <p:cNvPr id="11" name="Result card"/>
          <p:cNvSpPr/>
          <p:nvPr/>
        </p:nvSpPr>
        <p:spPr>
          <a:xfrm>
            <a:off x="6126480" y="2194560"/>
            <a:ext cx="2560320" cy="146304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12" name="Text 10"/>
          <p:cNvSpPr txBox="1"/>
          <p:nvPr/>
        </p:nvSpPr>
        <p:spPr>
          <a:xfrm>
            <a:off x="6309360" y="2286000"/>
            <a:ext cx="2240280" cy="502920"/>
          </a:xfrm>
          <a:prstGeom prst="rect">
            <a:avLst/>
          </a:prstGeom>
          <a:noFill/>
          <a:ln/>
        </p:spPr>
        <p:txBody>
          <a:bodyPr wrap="square" lIns="0" tIns="0" rIns="0" bIns="0" rtlCol="0" anchor="t"/>
          <a:lstStyle/>
          <a:p>
            <a:pPr indent="0" marL="0">
              <a:buNone/>
            </a:pPr>
            <a:r>
              <a:rPr lang="en-US" sz="1500" b="1" dirty="0">
                <a:solidFill>
                  <a:schemeClr val="accent1"/>
                </a:solidFill>
              </a:rPr>
              <a:t>Result</a:t>
            </a:r>
            <a:endParaRPr lang="en-US" sz="1500" dirty="0"/>
          </a:p>
        </p:txBody>
      </p:sp>
      <p:sp>
        <p:nvSpPr>
          <p:cNvPr id="13" name="Text 11"/>
          <p:cNvSpPr txBox="1"/>
          <p:nvPr/>
        </p:nvSpPr>
        <p:spPr>
          <a:xfrm>
            <a:off x="6309360" y="2834640"/>
            <a:ext cx="2240280" cy="777240"/>
          </a:xfrm>
          <a:prstGeom prst="rect">
            <a:avLst/>
          </a:prstGeom>
          <a:noFill/>
          <a:ln/>
        </p:spPr>
        <p:txBody>
          <a:bodyPr wrap="square" lIns="0" tIns="0" rIns="0" bIns="0" rtlCol="0" anchor="t"/>
          <a:lstStyle/>
          <a:p>
            <a:pPr indent="0" marL="0">
              <a:buNone/>
            </a:pPr>
            <a:r>
              <a:rPr lang="en-US" sz="1400" dirty="0">
                <a:solidFill>
                  <a:schemeClr val="tx1"/>
                </a:solidFill>
              </a:rPr>
              <a:t>Common words get low weight; distinctive words like “shocking” get high weight</a:t>
            </a:r>
            <a:endParaRPr lang="en-US" sz="1400" dirty="0"/>
          </a:p>
        </p:txBody>
      </p:sp>
      <p:sp>
        <p:nvSpPr>
          <p:cNvPr id="14" name="Text 12"/>
          <p:cNvSpPr txBox="1"/>
          <p:nvPr/>
        </p:nvSpPr>
        <p:spPr>
          <a:xfrm>
            <a:off x="457200" y="3840480"/>
            <a:ext cx="8229600" cy="685800"/>
          </a:xfrm>
          <a:prstGeom prst="rect">
            <a:avLst/>
          </a:prstGeom>
          <a:noFill/>
          <a:ln/>
        </p:spPr>
        <p:txBody>
          <a:bodyPr wrap="square" lIns="0" tIns="0" rIns="0" bIns="0" rtlCol="0" anchor="ctr"/>
          <a:lstStyle/>
          <a:p>
            <a:pPr indent="0" marL="0">
              <a:buNone/>
            </a:pPr>
            <a:r>
              <a:rPr lang="en-US" sz="1400" b="1" dirty="0">
                <a:solidFill>
                  <a:schemeClr val="tx1"/>
                </a:solidFill>
              </a:rPr>
              <a:t>Our settings:  </a:t>
            </a:r>
            <a:pPr indent="0" marL="0">
              <a:buNone/>
            </a:pPr>
            <a:r>
              <a:rPr lang="en-US" sz="1400" dirty="0">
                <a:solidFill>
                  <a:schemeClr val="tx2"/>
                </a:solidFill>
              </a:rPr>
              <a:t>unigrams + bigrams (e.g. “fake news”), English stop words removed, words found in more than 70% of articles ignored (max_df = 0.7)</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Machine Learning Models</a:t>
            </a:r>
            <a:endParaRPr lang="en-US" sz="3200" dirty="0"/>
          </a:p>
        </p:txBody>
      </p:sp>
      <p:sp>
        <p:nvSpPr>
          <p:cNvPr id="3" name="Text 1"/>
          <p:cNvSpPr txBox="1"/>
          <p:nvPr/>
        </p:nvSpPr>
        <p:spPr>
          <a:xfrm>
            <a:off x="457200" y="1097280"/>
            <a:ext cx="36576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BASIC MODELS</a:t>
            </a:r>
            <a:endParaRPr lang="en-US" sz="1200" dirty="0"/>
          </a:p>
        </p:txBody>
      </p:sp>
      <p:sp>
        <p:nvSpPr>
          <p:cNvPr id="4" name="Logistic Regression card"/>
          <p:cNvSpPr/>
          <p:nvPr/>
        </p:nvSpPr>
        <p:spPr>
          <a:xfrm>
            <a:off x="457200" y="1417320"/>
            <a:ext cx="2560320" cy="132588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5" name="Logistic Regression circle"/>
          <p:cNvSpPr/>
          <p:nvPr/>
        </p:nvSpPr>
        <p:spPr>
          <a:xfrm>
            <a:off x="640080" y="1600200"/>
            <a:ext cx="457200" cy="457200"/>
          </a:xfrm>
          <a:prstGeom prst="ellipse">
            <a:avLst/>
          </a:prstGeom>
          <a:solidFill>
            <a:schemeClr val="accent3"/>
          </a:solidFill>
          <a:ln/>
        </p:spPr>
      </p:sp>
      <p:pic>
        <p:nvPicPr>
          <p:cNvPr id="6" name="Logistic Regression icon" descr="Logistic Regression">    </p:cNvPr>
          <p:cNvPicPr>
            <a:picLocks noChangeAspect="1"/>
          </p:cNvPicPr>
          <p:nvPr/>
        </p:nvPicPr>
        <p:blipFill>
          <a:blip r:embed="rId1"/>
          <a:stretch>
            <a:fillRect/>
          </a:stretch>
        </p:blipFill>
        <p:spPr>
          <a:xfrm>
            <a:off x="754380" y="1714500"/>
            <a:ext cx="228600" cy="228600"/>
          </a:xfrm>
          <a:prstGeom prst="rect">
            <a:avLst/>
          </a:prstGeom>
        </p:spPr>
      </p:pic>
      <p:sp>
        <p:nvSpPr>
          <p:cNvPr id="7" name="Text 4"/>
          <p:cNvSpPr txBox="1"/>
          <p:nvPr/>
        </p:nvSpPr>
        <p:spPr>
          <a:xfrm>
            <a:off x="1234440" y="1600200"/>
            <a:ext cx="1691640" cy="457200"/>
          </a:xfrm>
          <a:prstGeom prst="rect">
            <a:avLst/>
          </a:prstGeom>
          <a:noFill/>
          <a:ln/>
        </p:spPr>
        <p:txBody>
          <a:bodyPr wrap="square" lIns="0" tIns="0" rIns="0" bIns="0" rtlCol="0" anchor="ctr"/>
          <a:lstStyle/>
          <a:p>
            <a:pPr indent="0" marL="0">
              <a:buNone/>
            </a:pPr>
            <a:r>
              <a:rPr lang="en-US" sz="1500" b="1" dirty="0">
                <a:solidFill>
                  <a:schemeClr val="tx1"/>
                </a:solidFill>
              </a:rPr>
              <a:t>Logistic Regression</a:t>
            </a:r>
            <a:endParaRPr lang="en-US" sz="1500" dirty="0"/>
          </a:p>
        </p:txBody>
      </p:sp>
      <p:sp>
        <p:nvSpPr>
          <p:cNvPr id="8" name="Text 5"/>
          <p:cNvSpPr txBox="1"/>
          <p:nvPr/>
        </p:nvSpPr>
        <p:spPr>
          <a:xfrm>
            <a:off x="640080" y="2148840"/>
            <a:ext cx="2240280" cy="548640"/>
          </a:xfrm>
          <a:prstGeom prst="rect">
            <a:avLst/>
          </a:prstGeom>
          <a:noFill/>
          <a:ln/>
        </p:spPr>
        <p:txBody>
          <a:bodyPr wrap="square" lIns="0" tIns="0" rIns="0" bIns="0" rtlCol="0" anchor="t"/>
          <a:lstStyle/>
          <a:p>
            <a:pPr indent="0" marL="0">
              <a:buNone/>
            </a:pPr>
            <a:r>
              <a:rPr lang="en-US" sz="1400" dirty="0">
                <a:solidFill>
                  <a:schemeClr val="tx2"/>
                </a:solidFill>
              </a:rPr>
              <a:t>Predicts the probability that news is FAKE</a:t>
            </a:r>
            <a:endParaRPr lang="en-US" sz="1400" dirty="0"/>
          </a:p>
        </p:txBody>
      </p:sp>
      <p:sp>
        <p:nvSpPr>
          <p:cNvPr id="9" name="Naive Bayes card"/>
          <p:cNvSpPr/>
          <p:nvPr/>
        </p:nvSpPr>
        <p:spPr>
          <a:xfrm>
            <a:off x="3291840" y="1417320"/>
            <a:ext cx="2560320" cy="132588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10" name="Naive Bayes circle"/>
          <p:cNvSpPr/>
          <p:nvPr/>
        </p:nvSpPr>
        <p:spPr>
          <a:xfrm>
            <a:off x="3474720" y="1600200"/>
            <a:ext cx="457200" cy="457200"/>
          </a:xfrm>
          <a:prstGeom prst="ellipse">
            <a:avLst/>
          </a:prstGeom>
          <a:solidFill>
            <a:schemeClr val="accent3"/>
          </a:solidFill>
          <a:ln/>
        </p:spPr>
      </p:sp>
      <p:pic>
        <p:nvPicPr>
          <p:cNvPr id="11" name="Naive Bayes icon" descr="Naive Bayes">    </p:cNvPr>
          <p:cNvPicPr>
            <a:picLocks noChangeAspect="1"/>
          </p:cNvPicPr>
          <p:nvPr/>
        </p:nvPicPr>
        <p:blipFill>
          <a:blip r:embed="rId2"/>
          <a:stretch>
            <a:fillRect/>
          </a:stretch>
        </p:blipFill>
        <p:spPr>
          <a:xfrm>
            <a:off x="3589020" y="1714500"/>
            <a:ext cx="228600" cy="228600"/>
          </a:xfrm>
          <a:prstGeom prst="rect">
            <a:avLst/>
          </a:prstGeom>
        </p:spPr>
      </p:pic>
      <p:sp>
        <p:nvSpPr>
          <p:cNvPr id="12" name="Text 8"/>
          <p:cNvSpPr txBox="1"/>
          <p:nvPr/>
        </p:nvSpPr>
        <p:spPr>
          <a:xfrm>
            <a:off x="4069080" y="1600200"/>
            <a:ext cx="1691640" cy="457200"/>
          </a:xfrm>
          <a:prstGeom prst="rect">
            <a:avLst/>
          </a:prstGeom>
          <a:noFill/>
          <a:ln/>
        </p:spPr>
        <p:txBody>
          <a:bodyPr wrap="square" lIns="0" tIns="0" rIns="0" bIns="0" rtlCol="0" anchor="ctr"/>
          <a:lstStyle/>
          <a:p>
            <a:pPr indent="0" marL="0">
              <a:buNone/>
            </a:pPr>
            <a:r>
              <a:rPr lang="en-US" sz="1500" b="1" dirty="0">
                <a:solidFill>
                  <a:schemeClr val="tx1"/>
                </a:solidFill>
              </a:rPr>
              <a:t>Naive Bayes</a:t>
            </a:r>
            <a:endParaRPr lang="en-US" sz="1500" dirty="0"/>
          </a:p>
        </p:txBody>
      </p:sp>
      <p:sp>
        <p:nvSpPr>
          <p:cNvPr id="13" name="Text 9"/>
          <p:cNvSpPr txBox="1"/>
          <p:nvPr/>
        </p:nvSpPr>
        <p:spPr>
          <a:xfrm>
            <a:off x="3474720" y="2148840"/>
            <a:ext cx="2240280" cy="548640"/>
          </a:xfrm>
          <a:prstGeom prst="rect">
            <a:avLst/>
          </a:prstGeom>
          <a:noFill/>
          <a:ln/>
        </p:spPr>
        <p:txBody>
          <a:bodyPr wrap="square" lIns="0" tIns="0" rIns="0" bIns="0" rtlCol="0" anchor="t"/>
          <a:lstStyle/>
          <a:p>
            <a:pPr indent="0" marL="0">
              <a:buNone/>
            </a:pPr>
            <a:r>
              <a:rPr lang="en-US" sz="1400" dirty="0">
                <a:solidFill>
                  <a:schemeClr val="tx2"/>
                </a:solidFill>
              </a:rPr>
              <a:t>Uses word frequencies and Bayes’ theorem</a:t>
            </a:r>
            <a:endParaRPr lang="en-US" sz="1400" dirty="0"/>
          </a:p>
        </p:txBody>
      </p:sp>
      <p:sp>
        <p:nvSpPr>
          <p:cNvPr id="14" name="Linear SVM card"/>
          <p:cNvSpPr/>
          <p:nvPr/>
        </p:nvSpPr>
        <p:spPr>
          <a:xfrm>
            <a:off x="6126480" y="1417320"/>
            <a:ext cx="2560320" cy="132588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15" name="Linear SVM circle"/>
          <p:cNvSpPr/>
          <p:nvPr/>
        </p:nvSpPr>
        <p:spPr>
          <a:xfrm>
            <a:off x="6309360" y="1600200"/>
            <a:ext cx="457200" cy="457200"/>
          </a:xfrm>
          <a:prstGeom prst="ellipse">
            <a:avLst/>
          </a:prstGeom>
          <a:solidFill>
            <a:schemeClr val="accent3"/>
          </a:solidFill>
          <a:ln/>
        </p:spPr>
      </p:sp>
      <p:pic>
        <p:nvPicPr>
          <p:cNvPr id="16" name="Linear SVM icon" descr="Linear SVM">    </p:cNvPr>
          <p:cNvPicPr>
            <a:picLocks noChangeAspect="1"/>
          </p:cNvPicPr>
          <p:nvPr/>
        </p:nvPicPr>
        <p:blipFill>
          <a:blip r:embed="rId3"/>
          <a:stretch>
            <a:fillRect/>
          </a:stretch>
        </p:blipFill>
        <p:spPr>
          <a:xfrm>
            <a:off x="6423660" y="1714500"/>
            <a:ext cx="228600" cy="228600"/>
          </a:xfrm>
          <a:prstGeom prst="rect">
            <a:avLst/>
          </a:prstGeom>
        </p:spPr>
      </p:pic>
      <p:sp>
        <p:nvSpPr>
          <p:cNvPr id="17" name="Text 12"/>
          <p:cNvSpPr txBox="1"/>
          <p:nvPr/>
        </p:nvSpPr>
        <p:spPr>
          <a:xfrm>
            <a:off x="6903720" y="1600200"/>
            <a:ext cx="1691640" cy="457200"/>
          </a:xfrm>
          <a:prstGeom prst="rect">
            <a:avLst/>
          </a:prstGeom>
          <a:noFill/>
          <a:ln/>
        </p:spPr>
        <p:txBody>
          <a:bodyPr wrap="square" lIns="0" tIns="0" rIns="0" bIns="0" rtlCol="0" anchor="ctr"/>
          <a:lstStyle/>
          <a:p>
            <a:pPr indent="0" marL="0">
              <a:buNone/>
            </a:pPr>
            <a:r>
              <a:rPr lang="en-US" sz="1500" b="1" dirty="0">
                <a:solidFill>
                  <a:schemeClr val="tx1"/>
                </a:solidFill>
              </a:rPr>
              <a:t>Linear SVM</a:t>
            </a:r>
            <a:endParaRPr lang="en-US" sz="1500" dirty="0"/>
          </a:p>
        </p:txBody>
      </p:sp>
      <p:sp>
        <p:nvSpPr>
          <p:cNvPr id="18" name="Text 13"/>
          <p:cNvSpPr txBox="1"/>
          <p:nvPr/>
        </p:nvSpPr>
        <p:spPr>
          <a:xfrm>
            <a:off x="6309360" y="2148840"/>
            <a:ext cx="2240280" cy="548640"/>
          </a:xfrm>
          <a:prstGeom prst="rect">
            <a:avLst/>
          </a:prstGeom>
          <a:noFill/>
          <a:ln/>
        </p:spPr>
        <p:txBody>
          <a:bodyPr wrap="square" lIns="0" tIns="0" rIns="0" bIns="0" rtlCol="0" anchor="t"/>
          <a:lstStyle/>
          <a:p>
            <a:pPr indent="0" marL="0">
              <a:buNone/>
            </a:pPr>
            <a:r>
              <a:rPr lang="en-US" sz="1400" dirty="0">
                <a:solidFill>
                  <a:schemeClr val="tx2"/>
                </a:solidFill>
              </a:rPr>
              <a:t>Finds the best boundary between REAL and FAKE</a:t>
            </a:r>
            <a:endParaRPr lang="en-US" sz="1400" dirty="0"/>
          </a:p>
        </p:txBody>
      </p:sp>
      <p:sp>
        <p:nvSpPr>
          <p:cNvPr id="19" name="Text 14"/>
          <p:cNvSpPr txBox="1"/>
          <p:nvPr/>
        </p:nvSpPr>
        <p:spPr>
          <a:xfrm>
            <a:off x="457200" y="2926080"/>
            <a:ext cx="45720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ENSEMBLE MODELS (ADVANCED)</a:t>
            </a:r>
            <a:endParaRPr lang="en-US" sz="1200" dirty="0"/>
          </a:p>
        </p:txBody>
      </p:sp>
      <p:sp>
        <p:nvSpPr>
          <p:cNvPr id="20" name="Random Forest card"/>
          <p:cNvSpPr/>
          <p:nvPr/>
        </p:nvSpPr>
        <p:spPr>
          <a:xfrm>
            <a:off x="457200" y="3246120"/>
            <a:ext cx="3977640" cy="1325880"/>
          </a:xfrm>
          <a:prstGeom prst="rect">
            <a:avLst/>
          </a:prstGeom>
          <a:solidFill>
            <a:schemeClr val="tx1"/>
          </a:solidFill>
          <a:ln/>
          <a:effectLst>
            <a:outerShdw sx="100000" sy="100000" kx="0" ky="0" algn="bl" rotWithShape="0" blurRad="76200" dist="25400" dir="5400000">
              <a:srgbClr val="000000">
                <a:alpha val="12000"/>
              </a:srgbClr>
            </a:outerShdw>
          </a:effectLst>
        </p:spPr>
      </p:sp>
      <p:sp>
        <p:nvSpPr>
          <p:cNvPr id="21" name="Random Forest circle"/>
          <p:cNvSpPr/>
          <p:nvPr/>
        </p:nvSpPr>
        <p:spPr>
          <a:xfrm>
            <a:off x="640080" y="3429000"/>
            <a:ext cx="457200" cy="457200"/>
          </a:xfrm>
          <a:prstGeom prst="ellipse">
            <a:avLst/>
          </a:prstGeom>
          <a:solidFill>
            <a:schemeClr val="accent1"/>
          </a:solidFill>
          <a:ln/>
        </p:spPr>
      </p:sp>
      <p:pic>
        <p:nvPicPr>
          <p:cNvPr id="22" name="Random Forest icon" descr="Random Forest">    </p:cNvPr>
          <p:cNvPicPr>
            <a:picLocks noChangeAspect="1"/>
          </p:cNvPicPr>
          <p:nvPr/>
        </p:nvPicPr>
        <p:blipFill>
          <a:blip r:embed="rId4"/>
          <a:stretch>
            <a:fillRect/>
          </a:stretch>
        </p:blipFill>
        <p:spPr>
          <a:xfrm>
            <a:off x="754380" y="3543300"/>
            <a:ext cx="228600" cy="228600"/>
          </a:xfrm>
          <a:prstGeom prst="rect">
            <a:avLst/>
          </a:prstGeom>
        </p:spPr>
      </p:pic>
      <p:sp>
        <p:nvSpPr>
          <p:cNvPr id="23" name="Text 17"/>
          <p:cNvSpPr txBox="1"/>
          <p:nvPr/>
        </p:nvSpPr>
        <p:spPr>
          <a:xfrm>
            <a:off x="1234440" y="3429000"/>
            <a:ext cx="3017520" cy="457200"/>
          </a:xfrm>
          <a:prstGeom prst="rect">
            <a:avLst/>
          </a:prstGeom>
          <a:noFill/>
          <a:ln/>
        </p:spPr>
        <p:txBody>
          <a:bodyPr wrap="square" lIns="0" tIns="0" rIns="0" bIns="0" rtlCol="0" anchor="ctr"/>
          <a:lstStyle/>
          <a:p>
            <a:pPr indent="0" marL="0">
              <a:buNone/>
            </a:pPr>
            <a:r>
              <a:rPr lang="en-US" sz="1500" b="1" dirty="0">
                <a:solidFill>
                  <a:schemeClr val="bg1"/>
                </a:solidFill>
              </a:rPr>
              <a:t>Random Forest</a:t>
            </a:r>
            <a:endParaRPr lang="en-US" sz="1500" dirty="0"/>
          </a:p>
        </p:txBody>
      </p:sp>
      <p:sp>
        <p:nvSpPr>
          <p:cNvPr id="24" name="Text 18"/>
          <p:cNvSpPr txBox="1"/>
          <p:nvPr/>
        </p:nvSpPr>
        <p:spPr>
          <a:xfrm>
            <a:off x="640080" y="3977640"/>
            <a:ext cx="3611880" cy="548640"/>
          </a:xfrm>
          <a:prstGeom prst="rect">
            <a:avLst/>
          </a:prstGeom>
          <a:noFill/>
          <a:ln/>
        </p:spPr>
        <p:txBody>
          <a:bodyPr wrap="square" lIns="0" tIns="0" rIns="0" bIns="0" rtlCol="0" anchor="t"/>
          <a:lstStyle/>
          <a:p>
            <a:pPr indent="0" marL="0">
              <a:buNone/>
            </a:pPr>
            <a:r>
              <a:rPr lang="en-US" sz="1400" dirty="0">
                <a:solidFill>
                  <a:schemeClr val="bg2"/>
                </a:solidFill>
              </a:rPr>
              <a:t>200 decision trees each vote on the answer (bagging)</a:t>
            </a:r>
            <a:endParaRPr lang="en-US" sz="1400" dirty="0"/>
          </a:p>
        </p:txBody>
      </p:sp>
      <p:sp>
        <p:nvSpPr>
          <p:cNvPr id="25" name="Voting Ensemble card"/>
          <p:cNvSpPr/>
          <p:nvPr/>
        </p:nvSpPr>
        <p:spPr>
          <a:xfrm>
            <a:off x="4709160" y="3246120"/>
            <a:ext cx="3977640" cy="1325880"/>
          </a:xfrm>
          <a:prstGeom prst="rect">
            <a:avLst/>
          </a:prstGeom>
          <a:solidFill>
            <a:schemeClr val="tx1"/>
          </a:solidFill>
          <a:ln/>
          <a:effectLst>
            <a:outerShdw sx="100000" sy="100000" kx="0" ky="0" algn="bl" rotWithShape="0" blurRad="76200" dist="25400" dir="5400000">
              <a:srgbClr val="000000">
                <a:alpha val="12000"/>
              </a:srgbClr>
            </a:outerShdw>
          </a:effectLst>
        </p:spPr>
      </p:sp>
      <p:sp>
        <p:nvSpPr>
          <p:cNvPr id="26" name="Voting Ensemble circle"/>
          <p:cNvSpPr/>
          <p:nvPr/>
        </p:nvSpPr>
        <p:spPr>
          <a:xfrm>
            <a:off x="4892040" y="3429000"/>
            <a:ext cx="457200" cy="457200"/>
          </a:xfrm>
          <a:prstGeom prst="ellipse">
            <a:avLst/>
          </a:prstGeom>
          <a:solidFill>
            <a:schemeClr val="accent1"/>
          </a:solidFill>
          <a:ln/>
        </p:spPr>
      </p:sp>
      <p:pic>
        <p:nvPicPr>
          <p:cNvPr id="27" name="Voting Ensemble icon" descr="Voting Ensemble">    </p:cNvPr>
          <p:cNvPicPr>
            <a:picLocks noChangeAspect="1"/>
          </p:cNvPicPr>
          <p:nvPr/>
        </p:nvPicPr>
        <p:blipFill>
          <a:blip r:embed="rId5"/>
          <a:stretch>
            <a:fillRect/>
          </a:stretch>
        </p:blipFill>
        <p:spPr>
          <a:xfrm>
            <a:off x="5006340" y="3543300"/>
            <a:ext cx="228600" cy="228600"/>
          </a:xfrm>
          <a:prstGeom prst="rect">
            <a:avLst/>
          </a:prstGeom>
        </p:spPr>
      </p:pic>
      <p:sp>
        <p:nvSpPr>
          <p:cNvPr id="28" name="Text 21"/>
          <p:cNvSpPr txBox="1"/>
          <p:nvPr/>
        </p:nvSpPr>
        <p:spPr>
          <a:xfrm>
            <a:off x="5486400" y="3429000"/>
            <a:ext cx="3017520" cy="457200"/>
          </a:xfrm>
          <a:prstGeom prst="rect">
            <a:avLst/>
          </a:prstGeom>
          <a:noFill/>
          <a:ln/>
        </p:spPr>
        <p:txBody>
          <a:bodyPr wrap="square" lIns="0" tIns="0" rIns="0" bIns="0" rtlCol="0" anchor="ctr"/>
          <a:lstStyle/>
          <a:p>
            <a:pPr indent="0" marL="0">
              <a:buNone/>
            </a:pPr>
            <a:r>
              <a:rPr lang="en-US" sz="1500" b="1" dirty="0">
                <a:solidFill>
                  <a:schemeClr val="bg1"/>
                </a:solidFill>
              </a:rPr>
              <a:t>Voting Ensemble</a:t>
            </a:r>
            <a:endParaRPr lang="en-US" sz="1500" dirty="0"/>
          </a:p>
        </p:txBody>
      </p:sp>
      <p:sp>
        <p:nvSpPr>
          <p:cNvPr id="29" name="Text 22"/>
          <p:cNvSpPr txBox="1"/>
          <p:nvPr/>
        </p:nvSpPr>
        <p:spPr>
          <a:xfrm>
            <a:off x="4892040" y="3977640"/>
            <a:ext cx="3611880" cy="548640"/>
          </a:xfrm>
          <a:prstGeom prst="rect">
            <a:avLst/>
          </a:prstGeom>
          <a:noFill/>
          <a:ln/>
        </p:spPr>
        <p:txBody>
          <a:bodyPr wrap="square" lIns="0" tIns="0" rIns="0" bIns="0" rtlCol="0" anchor="t"/>
          <a:lstStyle/>
          <a:p>
            <a:pPr indent="0" marL="0">
              <a:buNone/>
            </a:pPr>
            <a:r>
              <a:rPr lang="en-US" sz="1400" dirty="0">
                <a:solidFill>
                  <a:schemeClr val="bg2"/>
                </a:solidFill>
              </a:rPr>
              <a:t>Averages the probabilities of Logistic Regression, Naive Bayes and Random Forest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Advanced Techniques Used</a:t>
            </a:r>
            <a:endParaRPr lang="en-US" sz="3200" dirty="0"/>
          </a:p>
        </p:txBody>
      </p:sp>
      <p:sp>
        <p:nvSpPr>
          <p:cNvPr id="3" name="Ensemble Learning card"/>
          <p:cNvSpPr/>
          <p:nvPr/>
        </p:nvSpPr>
        <p:spPr>
          <a:xfrm>
            <a:off x="457200" y="1143000"/>
            <a:ext cx="2560320" cy="347472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4" name="Ensemble Learning circle"/>
          <p:cNvSpPr/>
          <p:nvPr/>
        </p:nvSpPr>
        <p:spPr>
          <a:xfrm>
            <a:off x="640080" y="1280160"/>
            <a:ext cx="502920" cy="502920"/>
          </a:xfrm>
          <a:prstGeom prst="ellipse">
            <a:avLst/>
          </a:prstGeom>
          <a:solidFill>
            <a:schemeClr val="accent3"/>
          </a:solidFill>
          <a:ln/>
        </p:spPr>
      </p:sp>
      <p:pic>
        <p:nvPicPr>
          <p:cNvPr id="5" name="Ensemble Learning icon" descr="Ensemble Learning">    </p:cNvPr>
          <p:cNvPicPr>
            <a:picLocks noChangeAspect="1"/>
          </p:cNvPicPr>
          <p:nvPr/>
        </p:nvPicPr>
        <p:blipFill>
          <a:blip r:embed="rId1"/>
          <a:stretch>
            <a:fillRect/>
          </a:stretch>
        </p:blipFill>
        <p:spPr>
          <a:xfrm>
            <a:off x="765810" y="1405890"/>
            <a:ext cx="251460" cy="251460"/>
          </a:xfrm>
          <a:prstGeom prst="rect">
            <a:avLst/>
          </a:prstGeom>
        </p:spPr>
      </p:pic>
      <p:sp>
        <p:nvSpPr>
          <p:cNvPr id="6" name="Text 3"/>
          <p:cNvSpPr txBox="1"/>
          <p:nvPr/>
        </p:nvSpPr>
        <p:spPr>
          <a:xfrm>
            <a:off x="640080" y="1874520"/>
            <a:ext cx="2240280" cy="365760"/>
          </a:xfrm>
          <a:prstGeom prst="rect">
            <a:avLst/>
          </a:prstGeom>
          <a:noFill/>
          <a:ln/>
        </p:spPr>
        <p:txBody>
          <a:bodyPr wrap="square" lIns="0" tIns="0" rIns="0" bIns="0" rtlCol="0" anchor="ctr"/>
          <a:lstStyle/>
          <a:p>
            <a:pPr indent="0" marL="0">
              <a:buNone/>
            </a:pPr>
            <a:r>
              <a:rPr lang="en-US" sz="1600" b="1" dirty="0">
                <a:solidFill>
                  <a:schemeClr val="tx1"/>
                </a:solidFill>
              </a:rPr>
              <a:t>Ensemble Learning</a:t>
            </a:r>
            <a:endParaRPr lang="en-US" sz="1600" dirty="0"/>
          </a:p>
        </p:txBody>
      </p:sp>
      <p:sp>
        <p:nvSpPr>
          <p:cNvPr id="7" name="Text 4"/>
          <p:cNvSpPr txBox="1"/>
          <p:nvPr/>
        </p:nvSpPr>
        <p:spPr>
          <a:xfrm>
            <a:off x="640080" y="2286000"/>
            <a:ext cx="2240280" cy="868680"/>
          </a:xfrm>
          <a:prstGeom prst="rect">
            <a:avLst/>
          </a:prstGeom>
          <a:noFill/>
          <a:ln/>
        </p:spPr>
        <p:txBody>
          <a:bodyPr wrap="square" lIns="0" tIns="0" rIns="0" bIns="0" rtlCol="0" anchor="t"/>
          <a:lstStyle/>
          <a:p>
            <a:pPr indent="0" marL="0">
              <a:buNone/>
            </a:pPr>
            <a:r>
              <a:rPr lang="en-US" sz="1400" dirty="0">
                <a:solidFill>
                  <a:schemeClr val="tx2"/>
                </a:solidFill>
              </a:rPr>
              <a:t>Combine several models so their individual mistakes cancel out.</a:t>
            </a:r>
            <a:endParaRPr lang="en-US" sz="1400" dirty="0"/>
          </a:p>
        </p:txBody>
      </p:sp>
      <p:sp>
        <p:nvSpPr>
          <p:cNvPr id="8" name="GridSearchCV Tuning card"/>
          <p:cNvSpPr/>
          <p:nvPr/>
        </p:nvSpPr>
        <p:spPr>
          <a:xfrm>
            <a:off x="3291840" y="1143000"/>
            <a:ext cx="2560320" cy="347472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9" name="GridSearchCV Tuning circle"/>
          <p:cNvSpPr/>
          <p:nvPr/>
        </p:nvSpPr>
        <p:spPr>
          <a:xfrm>
            <a:off x="3474720" y="1280160"/>
            <a:ext cx="502920" cy="502920"/>
          </a:xfrm>
          <a:prstGeom prst="ellipse">
            <a:avLst/>
          </a:prstGeom>
          <a:solidFill>
            <a:schemeClr val="accent3"/>
          </a:solidFill>
          <a:ln/>
        </p:spPr>
      </p:sp>
      <p:pic>
        <p:nvPicPr>
          <p:cNvPr id="10" name="GridSearchCV Tuning icon" descr="GridSearchCV Tuning">    </p:cNvPr>
          <p:cNvPicPr>
            <a:picLocks noChangeAspect="1"/>
          </p:cNvPicPr>
          <p:nvPr/>
        </p:nvPicPr>
        <p:blipFill>
          <a:blip r:embed="rId2"/>
          <a:stretch>
            <a:fillRect/>
          </a:stretch>
        </p:blipFill>
        <p:spPr>
          <a:xfrm>
            <a:off x="3600450" y="1405890"/>
            <a:ext cx="251460" cy="251460"/>
          </a:xfrm>
          <a:prstGeom prst="rect">
            <a:avLst/>
          </a:prstGeom>
        </p:spPr>
      </p:pic>
      <p:sp>
        <p:nvSpPr>
          <p:cNvPr id="11" name="Text 7"/>
          <p:cNvSpPr txBox="1"/>
          <p:nvPr/>
        </p:nvSpPr>
        <p:spPr>
          <a:xfrm>
            <a:off x="3474720" y="1874520"/>
            <a:ext cx="2240280" cy="365760"/>
          </a:xfrm>
          <a:prstGeom prst="rect">
            <a:avLst/>
          </a:prstGeom>
          <a:noFill/>
          <a:ln/>
        </p:spPr>
        <p:txBody>
          <a:bodyPr wrap="square" lIns="0" tIns="0" rIns="0" bIns="0" rtlCol="0" anchor="ctr"/>
          <a:lstStyle/>
          <a:p>
            <a:pPr indent="0" marL="0">
              <a:buNone/>
            </a:pPr>
            <a:r>
              <a:rPr lang="en-US" sz="1600" b="1" dirty="0">
                <a:solidFill>
                  <a:schemeClr val="tx1"/>
                </a:solidFill>
              </a:rPr>
              <a:t>GridSearchCV Tuning</a:t>
            </a:r>
            <a:endParaRPr lang="en-US" sz="1600" dirty="0"/>
          </a:p>
        </p:txBody>
      </p:sp>
      <p:sp>
        <p:nvSpPr>
          <p:cNvPr id="12" name="Text 8"/>
          <p:cNvSpPr txBox="1"/>
          <p:nvPr/>
        </p:nvSpPr>
        <p:spPr>
          <a:xfrm>
            <a:off x="3474720" y="2286000"/>
            <a:ext cx="2240280" cy="868680"/>
          </a:xfrm>
          <a:prstGeom prst="rect">
            <a:avLst/>
          </a:prstGeom>
          <a:noFill/>
          <a:ln/>
        </p:spPr>
        <p:txBody>
          <a:bodyPr wrap="square" lIns="0" tIns="0" rIns="0" bIns="0" rtlCol="0" anchor="t"/>
          <a:lstStyle/>
          <a:p>
            <a:pPr indent="0" marL="0">
              <a:buNone/>
            </a:pPr>
            <a:r>
              <a:rPr lang="en-US" sz="1400" dirty="0">
                <a:solidFill>
                  <a:schemeClr val="tx2"/>
                </a:solidFill>
              </a:rPr>
              <a:t>Tries each value of C for Logistic Regression and keeps the best.</a:t>
            </a:r>
            <a:endParaRPr lang="en-US" sz="1400" dirty="0"/>
          </a:p>
        </p:txBody>
      </p:sp>
      <p:sp>
        <p:nvSpPr>
          <p:cNvPr id="13" name="5-Fold Cross-Validation card"/>
          <p:cNvSpPr/>
          <p:nvPr/>
        </p:nvSpPr>
        <p:spPr>
          <a:xfrm>
            <a:off x="6126480" y="1143000"/>
            <a:ext cx="2560320" cy="347472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14" name="5-Fold Cross-Validation circle"/>
          <p:cNvSpPr/>
          <p:nvPr/>
        </p:nvSpPr>
        <p:spPr>
          <a:xfrm>
            <a:off x="6309360" y="1280160"/>
            <a:ext cx="502920" cy="502920"/>
          </a:xfrm>
          <a:prstGeom prst="ellipse">
            <a:avLst/>
          </a:prstGeom>
          <a:solidFill>
            <a:schemeClr val="accent3"/>
          </a:solidFill>
          <a:ln/>
        </p:spPr>
      </p:sp>
      <p:pic>
        <p:nvPicPr>
          <p:cNvPr id="15" name="5-Fold Cross-Validation icon" descr="5-Fold Cross-Validation">    </p:cNvPr>
          <p:cNvPicPr>
            <a:picLocks noChangeAspect="1"/>
          </p:cNvPicPr>
          <p:nvPr/>
        </p:nvPicPr>
        <p:blipFill>
          <a:blip r:embed="rId3"/>
          <a:stretch>
            <a:fillRect/>
          </a:stretch>
        </p:blipFill>
        <p:spPr>
          <a:xfrm>
            <a:off x="6435090" y="1405890"/>
            <a:ext cx="251460" cy="251460"/>
          </a:xfrm>
          <a:prstGeom prst="rect">
            <a:avLst/>
          </a:prstGeom>
        </p:spPr>
      </p:pic>
      <p:sp>
        <p:nvSpPr>
          <p:cNvPr id="16" name="Text 11"/>
          <p:cNvSpPr txBox="1"/>
          <p:nvPr/>
        </p:nvSpPr>
        <p:spPr>
          <a:xfrm>
            <a:off x="6309360" y="1874520"/>
            <a:ext cx="2240280" cy="365760"/>
          </a:xfrm>
          <a:prstGeom prst="rect">
            <a:avLst/>
          </a:prstGeom>
          <a:noFill/>
          <a:ln/>
        </p:spPr>
        <p:txBody>
          <a:bodyPr wrap="square" lIns="0" tIns="0" rIns="0" bIns="0" rtlCol="0" anchor="ctr"/>
          <a:lstStyle/>
          <a:p>
            <a:pPr indent="0" marL="0">
              <a:buNone/>
            </a:pPr>
            <a:r>
              <a:rPr lang="en-US" sz="1600" b="1" dirty="0">
                <a:solidFill>
                  <a:schemeClr val="tx1"/>
                </a:solidFill>
              </a:rPr>
              <a:t>5-Fold Cross-Validation</a:t>
            </a:r>
            <a:endParaRPr lang="en-US" sz="1600" dirty="0"/>
          </a:p>
        </p:txBody>
      </p:sp>
      <p:sp>
        <p:nvSpPr>
          <p:cNvPr id="17" name="Text 12"/>
          <p:cNvSpPr txBox="1"/>
          <p:nvPr/>
        </p:nvSpPr>
        <p:spPr>
          <a:xfrm>
            <a:off x="6309360" y="2286000"/>
            <a:ext cx="2240280" cy="868680"/>
          </a:xfrm>
          <a:prstGeom prst="rect">
            <a:avLst/>
          </a:prstGeom>
          <a:noFill/>
          <a:ln/>
        </p:spPr>
        <p:txBody>
          <a:bodyPr wrap="square" lIns="0" tIns="0" rIns="0" bIns="0" rtlCol="0" anchor="t"/>
          <a:lstStyle/>
          <a:p>
            <a:pPr indent="0" marL="0">
              <a:buNone/>
            </a:pPr>
            <a:r>
              <a:rPr lang="en-US" sz="1400" dirty="0">
                <a:solidFill>
                  <a:schemeClr val="tx2"/>
                </a:solidFill>
              </a:rPr>
              <a:t>Train and test 5 times on different parts of the data, then average.</a:t>
            </a:r>
            <a:endParaRPr lang="en-US" sz="1400" dirty="0"/>
          </a:p>
        </p:txBody>
      </p:sp>
      <p:sp>
        <p:nvSpPr>
          <p:cNvPr id="18" name="Text 13"/>
          <p:cNvSpPr txBox="1"/>
          <p:nvPr/>
        </p:nvSpPr>
        <p:spPr>
          <a:xfrm>
            <a:off x="640080" y="3291840"/>
            <a:ext cx="594360" cy="320040"/>
          </a:xfrm>
          <a:prstGeom prst="roundRect">
            <a:avLst>
              <a:gd name="adj" fmla="val 17143"/>
            </a:avLst>
          </a:prstGeom>
          <a:solidFill>
            <a:schemeClr val="bg1"/>
          </a:solidFill>
          <a:ln w="12700">
            <a:solidFill>
              <a:srgbClr val="1F4E79"/>
            </a:solidFill>
          </a:ln>
        </p:spPr>
        <p:txBody>
          <a:bodyPr wrap="square" lIns="0" tIns="0" rIns="0" bIns="0" rtlCol="0" anchor="ctr"/>
          <a:lstStyle/>
          <a:p>
            <a:pPr algn="ctr" indent="0" marL="0">
              <a:buNone/>
            </a:pPr>
            <a:r>
              <a:rPr lang="en-US" sz="1200" b="1" dirty="0">
                <a:solidFill>
                  <a:schemeClr val="accent3"/>
                </a:solidFill>
              </a:rPr>
              <a:t>LR</a:t>
            </a:r>
            <a:endParaRPr lang="en-US" sz="1200" dirty="0"/>
          </a:p>
        </p:txBody>
      </p:sp>
      <p:sp>
        <p:nvSpPr>
          <p:cNvPr id="19" name="Ensemble arrow LR"/>
          <p:cNvSpPr/>
          <p:nvPr/>
        </p:nvSpPr>
        <p:spPr>
          <a:xfrm>
            <a:off x="937260" y="3611880"/>
            <a:ext cx="0" cy="320040"/>
          </a:xfrm>
          <a:prstGeom prst="line">
            <a:avLst/>
          </a:prstGeom>
          <a:noFill/>
          <a:ln w="15875">
            <a:solidFill>
              <a:srgbClr val="9AA5B1"/>
            </a:solidFill>
            <a:prstDash val="solid"/>
            <a:tailEnd type="triangle"/>
          </a:ln>
        </p:spPr>
      </p:sp>
      <p:sp>
        <p:nvSpPr>
          <p:cNvPr id="20" name="Text 15"/>
          <p:cNvSpPr txBox="1"/>
          <p:nvPr/>
        </p:nvSpPr>
        <p:spPr>
          <a:xfrm>
            <a:off x="1417320" y="3291840"/>
            <a:ext cx="594360" cy="320040"/>
          </a:xfrm>
          <a:prstGeom prst="roundRect">
            <a:avLst>
              <a:gd name="adj" fmla="val 17143"/>
            </a:avLst>
          </a:prstGeom>
          <a:solidFill>
            <a:schemeClr val="bg1"/>
          </a:solidFill>
          <a:ln w="12700">
            <a:solidFill>
              <a:srgbClr val="1F4E79"/>
            </a:solidFill>
          </a:ln>
        </p:spPr>
        <p:txBody>
          <a:bodyPr wrap="square" lIns="0" tIns="0" rIns="0" bIns="0" rtlCol="0" anchor="ctr"/>
          <a:lstStyle/>
          <a:p>
            <a:pPr algn="ctr" indent="0" marL="0">
              <a:buNone/>
            </a:pPr>
            <a:r>
              <a:rPr lang="en-US" sz="1200" b="1" dirty="0">
                <a:solidFill>
                  <a:schemeClr val="accent3"/>
                </a:solidFill>
              </a:rPr>
              <a:t>NB</a:t>
            </a:r>
            <a:endParaRPr lang="en-US" sz="1200" dirty="0"/>
          </a:p>
        </p:txBody>
      </p:sp>
      <p:sp>
        <p:nvSpPr>
          <p:cNvPr id="21" name="Ensemble arrow NB"/>
          <p:cNvSpPr/>
          <p:nvPr/>
        </p:nvSpPr>
        <p:spPr>
          <a:xfrm>
            <a:off x="1714500" y="3611880"/>
            <a:ext cx="0" cy="320040"/>
          </a:xfrm>
          <a:prstGeom prst="line">
            <a:avLst/>
          </a:prstGeom>
          <a:noFill/>
          <a:ln w="15875">
            <a:solidFill>
              <a:srgbClr val="9AA5B1"/>
            </a:solidFill>
            <a:prstDash val="solid"/>
            <a:tailEnd type="triangle"/>
          </a:ln>
        </p:spPr>
      </p:sp>
      <p:sp>
        <p:nvSpPr>
          <p:cNvPr id="22" name="Text 17"/>
          <p:cNvSpPr txBox="1"/>
          <p:nvPr/>
        </p:nvSpPr>
        <p:spPr>
          <a:xfrm>
            <a:off x="2194560" y="3291840"/>
            <a:ext cx="594360" cy="320040"/>
          </a:xfrm>
          <a:prstGeom prst="roundRect">
            <a:avLst>
              <a:gd name="adj" fmla="val 17143"/>
            </a:avLst>
          </a:prstGeom>
          <a:solidFill>
            <a:schemeClr val="bg1"/>
          </a:solidFill>
          <a:ln w="12700">
            <a:solidFill>
              <a:srgbClr val="1F4E79"/>
            </a:solidFill>
          </a:ln>
        </p:spPr>
        <p:txBody>
          <a:bodyPr wrap="square" lIns="0" tIns="0" rIns="0" bIns="0" rtlCol="0" anchor="ctr"/>
          <a:lstStyle/>
          <a:p>
            <a:pPr algn="ctr" indent="0" marL="0">
              <a:buNone/>
            </a:pPr>
            <a:r>
              <a:rPr lang="en-US" sz="1200" b="1" dirty="0">
                <a:solidFill>
                  <a:schemeClr val="accent3"/>
                </a:solidFill>
              </a:rPr>
              <a:t>RF</a:t>
            </a:r>
            <a:endParaRPr lang="en-US" sz="1200" dirty="0"/>
          </a:p>
        </p:txBody>
      </p:sp>
      <p:sp>
        <p:nvSpPr>
          <p:cNvPr id="23" name="Ensemble arrow RF"/>
          <p:cNvSpPr/>
          <p:nvPr/>
        </p:nvSpPr>
        <p:spPr>
          <a:xfrm>
            <a:off x="2491740" y="3611880"/>
            <a:ext cx="0" cy="320040"/>
          </a:xfrm>
          <a:prstGeom prst="line">
            <a:avLst/>
          </a:prstGeom>
          <a:noFill/>
          <a:ln w="15875">
            <a:solidFill>
              <a:srgbClr val="9AA5B1"/>
            </a:solidFill>
            <a:prstDash val="solid"/>
            <a:tailEnd type="triangle"/>
          </a:ln>
        </p:spPr>
      </p:sp>
      <p:sp>
        <p:nvSpPr>
          <p:cNvPr id="24" name="Text 19"/>
          <p:cNvSpPr txBox="1"/>
          <p:nvPr/>
        </p:nvSpPr>
        <p:spPr>
          <a:xfrm>
            <a:off x="640080" y="3977640"/>
            <a:ext cx="2148840" cy="365760"/>
          </a:xfrm>
          <a:prstGeom prst="roundRect">
            <a:avLst>
              <a:gd name="adj" fmla="val 15000"/>
            </a:avLst>
          </a:prstGeom>
          <a:solidFill>
            <a:schemeClr val="accent1"/>
          </a:solidFill>
          <a:ln/>
        </p:spPr>
        <p:txBody>
          <a:bodyPr wrap="square" lIns="0" tIns="0" rIns="0" bIns="0" rtlCol="0" anchor="ctr"/>
          <a:lstStyle/>
          <a:p>
            <a:pPr algn="ctr" indent="0" marL="0">
              <a:buNone/>
            </a:pPr>
            <a:r>
              <a:rPr lang="en-US" sz="1300" b="1" dirty="0">
                <a:solidFill>
                  <a:schemeClr val="bg1"/>
                </a:solidFill>
              </a:rPr>
              <a:t>Final vote</a:t>
            </a:r>
            <a:endParaRPr lang="en-US" sz="1300" dirty="0"/>
          </a:p>
        </p:txBody>
      </p:sp>
      <p:sp>
        <p:nvSpPr>
          <p:cNvPr id="25" name="Text 20"/>
          <p:cNvSpPr txBox="1"/>
          <p:nvPr/>
        </p:nvSpPr>
        <p:spPr>
          <a:xfrm>
            <a:off x="3429000" y="3291840"/>
            <a:ext cx="502920" cy="320040"/>
          </a:xfrm>
          <a:prstGeom prst="roundRect">
            <a:avLst>
              <a:gd name="adj" fmla="val 17143"/>
            </a:avLst>
          </a:prstGeom>
          <a:solidFill>
            <a:schemeClr val="bg1"/>
          </a:solidFill>
          <a:ln w="12700">
            <a:solidFill>
              <a:srgbClr val="9AA5B1"/>
            </a:solidFill>
          </a:ln>
        </p:spPr>
        <p:txBody>
          <a:bodyPr wrap="square" lIns="0" tIns="0" rIns="0" bIns="0" rtlCol="0" anchor="ctr"/>
          <a:lstStyle/>
          <a:p>
            <a:pPr algn="ctr" indent="0" marL="0">
              <a:buNone/>
            </a:pPr>
            <a:r>
              <a:rPr lang="en-US" sz="1100" dirty="0">
                <a:solidFill>
                  <a:schemeClr val="tx2"/>
                </a:solidFill>
              </a:rPr>
              <a:t>C=0.1</a:t>
            </a:r>
            <a:endParaRPr lang="en-US" sz="1100" dirty="0"/>
          </a:p>
        </p:txBody>
      </p:sp>
      <p:sp>
        <p:nvSpPr>
          <p:cNvPr id="26" name="Text 21"/>
          <p:cNvSpPr txBox="1"/>
          <p:nvPr/>
        </p:nvSpPr>
        <p:spPr>
          <a:xfrm>
            <a:off x="3995928" y="3291840"/>
            <a:ext cx="502920" cy="320040"/>
          </a:xfrm>
          <a:prstGeom prst="roundRect">
            <a:avLst>
              <a:gd name="adj" fmla="val 17143"/>
            </a:avLst>
          </a:prstGeom>
          <a:solidFill>
            <a:schemeClr val="bg1"/>
          </a:solidFill>
          <a:ln w="12700">
            <a:solidFill>
              <a:srgbClr val="9AA5B1"/>
            </a:solidFill>
          </a:ln>
        </p:spPr>
        <p:txBody>
          <a:bodyPr wrap="square" lIns="0" tIns="0" rIns="0" bIns="0" rtlCol="0" anchor="ctr"/>
          <a:lstStyle/>
          <a:p>
            <a:pPr algn="ctr" indent="0" marL="0">
              <a:buNone/>
            </a:pPr>
            <a:r>
              <a:rPr lang="en-US" sz="1100" dirty="0">
                <a:solidFill>
                  <a:schemeClr val="tx2"/>
                </a:solidFill>
              </a:rPr>
              <a:t>C=1</a:t>
            </a:r>
            <a:endParaRPr lang="en-US" sz="1100" dirty="0"/>
          </a:p>
        </p:txBody>
      </p:sp>
      <p:sp>
        <p:nvSpPr>
          <p:cNvPr id="27" name="Text 22"/>
          <p:cNvSpPr txBox="1"/>
          <p:nvPr/>
        </p:nvSpPr>
        <p:spPr>
          <a:xfrm>
            <a:off x="4562856" y="3291840"/>
            <a:ext cx="502920" cy="320040"/>
          </a:xfrm>
          <a:prstGeom prst="roundRect">
            <a:avLst>
              <a:gd name="adj" fmla="val 17143"/>
            </a:avLst>
          </a:prstGeom>
          <a:solidFill>
            <a:schemeClr val="bg1"/>
          </a:solidFill>
          <a:ln w="12700">
            <a:solidFill>
              <a:srgbClr val="9AA5B1"/>
            </a:solidFill>
          </a:ln>
        </p:spPr>
        <p:txBody>
          <a:bodyPr wrap="square" lIns="0" tIns="0" rIns="0" bIns="0" rtlCol="0" anchor="ctr"/>
          <a:lstStyle/>
          <a:p>
            <a:pPr algn="ctr" indent="0" marL="0">
              <a:buNone/>
            </a:pPr>
            <a:r>
              <a:rPr lang="en-US" sz="1100" dirty="0">
                <a:solidFill>
                  <a:schemeClr val="tx2"/>
                </a:solidFill>
              </a:rPr>
              <a:t>C=10</a:t>
            </a:r>
            <a:endParaRPr lang="en-US" sz="1100" dirty="0"/>
          </a:p>
        </p:txBody>
      </p:sp>
      <p:sp>
        <p:nvSpPr>
          <p:cNvPr id="28" name="Text 23"/>
          <p:cNvSpPr txBox="1"/>
          <p:nvPr/>
        </p:nvSpPr>
        <p:spPr>
          <a:xfrm>
            <a:off x="5129784" y="3291840"/>
            <a:ext cx="502920" cy="320040"/>
          </a:xfrm>
          <a:prstGeom prst="roundRect">
            <a:avLst>
              <a:gd name="adj" fmla="val 17143"/>
            </a:avLst>
          </a:prstGeom>
          <a:solidFill>
            <a:schemeClr val="accent1"/>
          </a:solidFill>
          <a:ln/>
        </p:spPr>
        <p:txBody>
          <a:bodyPr wrap="square" lIns="0" tIns="0" rIns="0" bIns="0" rtlCol="0" anchor="ctr"/>
          <a:lstStyle/>
          <a:p>
            <a:pPr algn="ctr" indent="0" marL="0">
              <a:buNone/>
            </a:pPr>
            <a:r>
              <a:rPr lang="en-US" sz="1100" b="1" dirty="0">
                <a:solidFill>
                  <a:schemeClr val="bg1"/>
                </a:solidFill>
              </a:rPr>
              <a:t>C=100</a:t>
            </a:r>
            <a:endParaRPr lang="en-US" sz="1100" dirty="0"/>
          </a:p>
        </p:txBody>
      </p:sp>
      <p:sp>
        <p:nvSpPr>
          <p:cNvPr id="29" name="Text 24"/>
          <p:cNvSpPr txBox="1"/>
          <p:nvPr/>
        </p:nvSpPr>
        <p:spPr>
          <a:xfrm>
            <a:off x="3474720" y="3749040"/>
            <a:ext cx="2240280" cy="548640"/>
          </a:xfrm>
          <a:prstGeom prst="rect">
            <a:avLst/>
          </a:prstGeom>
          <a:noFill/>
          <a:ln/>
        </p:spPr>
        <p:txBody>
          <a:bodyPr wrap="square" lIns="0" tIns="0" rIns="0" bIns="0" rtlCol="0" anchor="t"/>
          <a:lstStyle/>
          <a:p>
            <a:pPr indent="0" marL="0">
              <a:buNone/>
            </a:pPr>
            <a:r>
              <a:rPr lang="en-US" sz="1300" b="1" dirty="0">
                <a:solidFill>
                  <a:schemeClr val="tx1"/>
                </a:solidFill>
              </a:rPr>
              <a:t>Best: C = 100 (highest CV accuracy)</a:t>
            </a:r>
            <a:endParaRPr lang="en-US" sz="1300" dirty="0"/>
          </a:p>
        </p:txBody>
      </p:sp>
      <p:sp>
        <p:nvSpPr>
          <p:cNvPr id="30" name="Fold 1-1"/>
          <p:cNvSpPr/>
          <p:nvPr/>
        </p:nvSpPr>
        <p:spPr>
          <a:xfrm>
            <a:off x="6263640" y="3200400"/>
            <a:ext cx="384048" cy="155448"/>
          </a:xfrm>
          <a:prstGeom prst="rect">
            <a:avLst/>
          </a:prstGeom>
          <a:solidFill>
            <a:schemeClr val="accent1"/>
          </a:solidFill>
          <a:ln/>
        </p:spPr>
      </p:sp>
      <p:sp>
        <p:nvSpPr>
          <p:cNvPr id="31" name="Fold 1-2"/>
          <p:cNvSpPr/>
          <p:nvPr/>
        </p:nvSpPr>
        <p:spPr>
          <a:xfrm>
            <a:off x="6693408" y="3200400"/>
            <a:ext cx="384048" cy="155448"/>
          </a:xfrm>
          <a:prstGeom prst="rect">
            <a:avLst/>
          </a:prstGeom>
          <a:solidFill>
            <a:schemeClr val="accent5"/>
          </a:solidFill>
          <a:ln/>
        </p:spPr>
      </p:sp>
      <p:sp>
        <p:nvSpPr>
          <p:cNvPr id="32" name="Fold 1-3"/>
          <p:cNvSpPr/>
          <p:nvPr/>
        </p:nvSpPr>
        <p:spPr>
          <a:xfrm>
            <a:off x="7123176" y="3200400"/>
            <a:ext cx="384048" cy="155448"/>
          </a:xfrm>
          <a:prstGeom prst="rect">
            <a:avLst/>
          </a:prstGeom>
          <a:solidFill>
            <a:schemeClr val="accent5"/>
          </a:solidFill>
          <a:ln/>
        </p:spPr>
      </p:sp>
      <p:sp>
        <p:nvSpPr>
          <p:cNvPr id="33" name="Fold 1-4"/>
          <p:cNvSpPr/>
          <p:nvPr/>
        </p:nvSpPr>
        <p:spPr>
          <a:xfrm>
            <a:off x="7552944" y="3200400"/>
            <a:ext cx="384048" cy="155448"/>
          </a:xfrm>
          <a:prstGeom prst="rect">
            <a:avLst/>
          </a:prstGeom>
          <a:solidFill>
            <a:schemeClr val="accent5"/>
          </a:solidFill>
          <a:ln/>
        </p:spPr>
      </p:sp>
      <p:sp>
        <p:nvSpPr>
          <p:cNvPr id="34" name="Fold 1-5"/>
          <p:cNvSpPr/>
          <p:nvPr/>
        </p:nvSpPr>
        <p:spPr>
          <a:xfrm>
            <a:off x="7982712" y="3200400"/>
            <a:ext cx="384048" cy="155448"/>
          </a:xfrm>
          <a:prstGeom prst="rect">
            <a:avLst/>
          </a:prstGeom>
          <a:solidFill>
            <a:schemeClr val="accent5"/>
          </a:solidFill>
          <a:ln/>
        </p:spPr>
      </p:sp>
      <p:sp>
        <p:nvSpPr>
          <p:cNvPr id="35" name="Fold 2-1"/>
          <p:cNvSpPr/>
          <p:nvPr/>
        </p:nvSpPr>
        <p:spPr>
          <a:xfrm>
            <a:off x="6263640" y="3401568"/>
            <a:ext cx="384048" cy="155448"/>
          </a:xfrm>
          <a:prstGeom prst="rect">
            <a:avLst/>
          </a:prstGeom>
          <a:solidFill>
            <a:schemeClr val="accent5"/>
          </a:solidFill>
          <a:ln/>
        </p:spPr>
      </p:sp>
      <p:sp>
        <p:nvSpPr>
          <p:cNvPr id="36" name="Fold 2-2"/>
          <p:cNvSpPr/>
          <p:nvPr/>
        </p:nvSpPr>
        <p:spPr>
          <a:xfrm>
            <a:off x="6693408" y="3401568"/>
            <a:ext cx="384048" cy="155448"/>
          </a:xfrm>
          <a:prstGeom prst="rect">
            <a:avLst/>
          </a:prstGeom>
          <a:solidFill>
            <a:schemeClr val="accent1"/>
          </a:solidFill>
          <a:ln/>
        </p:spPr>
      </p:sp>
      <p:sp>
        <p:nvSpPr>
          <p:cNvPr id="37" name="Fold 2-3"/>
          <p:cNvSpPr/>
          <p:nvPr/>
        </p:nvSpPr>
        <p:spPr>
          <a:xfrm>
            <a:off x="7123176" y="3401568"/>
            <a:ext cx="384048" cy="155448"/>
          </a:xfrm>
          <a:prstGeom prst="rect">
            <a:avLst/>
          </a:prstGeom>
          <a:solidFill>
            <a:schemeClr val="accent5"/>
          </a:solidFill>
          <a:ln/>
        </p:spPr>
      </p:sp>
      <p:sp>
        <p:nvSpPr>
          <p:cNvPr id="38" name="Fold 2-4"/>
          <p:cNvSpPr/>
          <p:nvPr/>
        </p:nvSpPr>
        <p:spPr>
          <a:xfrm>
            <a:off x="7552944" y="3401568"/>
            <a:ext cx="384048" cy="155448"/>
          </a:xfrm>
          <a:prstGeom prst="rect">
            <a:avLst/>
          </a:prstGeom>
          <a:solidFill>
            <a:schemeClr val="accent5"/>
          </a:solidFill>
          <a:ln/>
        </p:spPr>
      </p:sp>
      <p:sp>
        <p:nvSpPr>
          <p:cNvPr id="39" name="Fold 2-5"/>
          <p:cNvSpPr/>
          <p:nvPr/>
        </p:nvSpPr>
        <p:spPr>
          <a:xfrm>
            <a:off x="7982712" y="3401568"/>
            <a:ext cx="384048" cy="155448"/>
          </a:xfrm>
          <a:prstGeom prst="rect">
            <a:avLst/>
          </a:prstGeom>
          <a:solidFill>
            <a:schemeClr val="accent5"/>
          </a:solidFill>
          <a:ln/>
        </p:spPr>
      </p:sp>
      <p:sp>
        <p:nvSpPr>
          <p:cNvPr id="40" name="Fold 3-1"/>
          <p:cNvSpPr/>
          <p:nvPr/>
        </p:nvSpPr>
        <p:spPr>
          <a:xfrm>
            <a:off x="6263640" y="3602736"/>
            <a:ext cx="384048" cy="155448"/>
          </a:xfrm>
          <a:prstGeom prst="rect">
            <a:avLst/>
          </a:prstGeom>
          <a:solidFill>
            <a:schemeClr val="accent5"/>
          </a:solidFill>
          <a:ln/>
        </p:spPr>
      </p:sp>
      <p:sp>
        <p:nvSpPr>
          <p:cNvPr id="41" name="Fold 3-2"/>
          <p:cNvSpPr/>
          <p:nvPr/>
        </p:nvSpPr>
        <p:spPr>
          <a:xfrm>
            <a:off x="6693408" y="3602736"/>
            <a:ext cx="384048" cy="155448"/>
          </a:xfrm>
          <a:prstGeom prst="rect">
            <a:avLst/>
          </a:prstGeom>
          <a:solidFill>
            <a:schemeClr val="accent5"/>
          </a:solidFill>
          <a:ln/>
        </p:spPr>
      </p:sp>
      <p:sp>
        <p:nvSpPr>
          <p:cNvPr id="42" name="Fold 3-3"/>
          <p:cNvSpPr/>
          <p:nvPr/>
        </p:nvSpPr>
        <p:spPr>
          <a:xfrm>
            <a:off x="7123176" y="3602736"/>
            <a:ext cx="384048" cy="155448"/>
          </a:xfrm>
          <a:prstGeom prst="rect">
            <a:avLst/>
          </a:prstGeom>
          <a:solidFill>
            <a:schemeClr val="accent1"/>
          </a:solidFill>
          <a:ln/>
        </p:spPr>
      </p:sp>
      <p:sp>
        <p:nvSpPr>
          <p:cNvPr id="43" name="Fold 3-4"/>
          <p:cNvSpPr/>
          <p:nvPr/>
        </p:nvSpPr>
        <p:spPr>
          <a:xfrm>
            <a:off x="7552944" y="3602736"/>
            <a:ext cx="384048" cy="155448"/>
          </a:xfrm>
          <a:prstGeom prst="rect">
            <a:avLst/>
          </a:prstGeom>
          <a:solidFill>
            <a:schemeClr val="accent5"/>
          </a:solidFill>
          <a:ln/>
        </p:spPr>
      </p:sp>
      <p:sp>
        <p:nvSpPr>
          <p:cNvPr id="44" name="Fold 3-5"/>
          <p:cNvSpPr/>
          <p:nvPr/>
        </p:nvSpPr>
        <p:spPr>
          <a:xfrm>
            <a:off x="7982712" y="3602736"/>
            <a:ext cx="384048" cy="155448"/>
          </a:xfrm>
          <a:prstGeom prst="rect">
            <a:avLst/>
          </a:prstGeom>
          <a:solidFill>
            <a:schemeClr val="accent5"/>
          </a:solidFill>
          <a:ln/>
        </p:spPr>
      </p:sp>
      <p:sp>
        <p:nvSpPr>
          <p:cNvPr id="45" name="Fold 4-1"/>
          <p:cNvSpPr/>
          <p:nvPr/>
        </p:nvSpPr>
        <p:spPr>
          <a:xfrm>
            <a:off x="6263640" y="3803904"/>
            <a:ext cx="384048" cy="155448"/>
          </a:xfrm>
          <a:prstGeom prst="rect">
            <a:avLst/>
          </a:prstGeom>
          <a:solidFill>
            <a:schemeClr val="accent5"/>
          </a:solidFill>
          <a:ln/>
        </p:spPr>
      </p:sp>
      <p:sp>
        <p:nvSpPr>
          <p:cNvPr id="46" name="Fold 4-2"/>
          <p:cNvSpPr/>
          <p:nvPr/>
        </p:nvSpPr>
        <p:spPr>
          <a:xfrm>
            <a:off x="6693408" y="3803904"/>
            <a:ext cx="384048" cy="155448"/>
          </a:xfrm>
          <a:prstGeom prst="rect">
            <a:avLst/>
          </a:prstGeom>
          <a:solidFill>
            <a:schemeClr val="accent5"/>
          </a:solidFill>
          <a:ln/>
        </p:spPr>
      </p:sp>
      <p:sp>
        <p:nvSpPr>
          <p:cNvPr id="47" name="Fold 4-3"/>
          <p:cNvSpPr/>
          <p:nvPr/>
        </p:nvSpPr>
        <p:spPr>
          <a:xfrm>
            <a:off x="7123176" y="3803904"/>
            <a:ext cx="384048" cy="155448"/>
          </a:xfrm>
          <a:prstGeom prst="rect">
            <a:avLst/>
          </a:prstGeom>
          <a:solidFill>
            <a:schemeClr val="accent5"/>
          </a:solidFill>
          <a:ln/>
        </p:spPr>
      </p:sp>
      <p:sp>
        <p:nvSpPr>
          <p:cNvPr id="48" name="Fold 4-4"/>
          <p:cNvSpPr/>
          <p:nvPr/>
        </p:nvSpPr>
        <p:spPr>
          <a:xfrm>
            <a:off x="7552944" y="3803904"/>
            <a:ext cx="384048" cy="155448"/>
          </a:xfrm>
          <a:prstGeom prst="rect">
            <a:avLst/>
          </a:prstGeom>
          <a:solidFill>
            <a:schemeClr val="accent1"/>
          </a:solidFill>
          <a:ln/>
        </p:spPr>
      </p:sp>
      <p:sp>
        <p:nvSpPr>
          <p:cNvPr id="49" name="Fold 4-5"/>
          <p:cNvSpPr/>
          <p:nvPr/>
        </p:nvSpPr>
        <p:spPr>
          <a:xfrm>
            <a:off x="7982712" y="3803904"/>
            <a:ext cx="384048" cy="155448"/>
          </a:xfrm>
          <a:prstGeom prst="rect">
            <a:avLst/>
          </a:prstGeom>
          <a:solidFill>
            <a:schemeClr val="accent5"/>
          </a:solidFill>
          <a:ln/>
        </p:spPr>
      </p:sp>
      <p:sp>
        <p:nvSpPr>
          <p:cNvPr id="50" name="Fold 5-1"/>
          <p:cNvSpPr/>
          <p:nvPr/>
        </p:nvSpPr>
        <p:spPr>
          <a:xfrm>
            <a:off x="6263640" y="4005072"/>
            <a:ext cx="384048" cy="155448"/>
          </a:xfrm>
          <a:prstGeom prst="rect">
            <a:avLst/>
          </a:prstGeom>
          <a:solidFill>
            <a:schemeClr val="accent5"/>
          </a:solidFill>
          <a:ln/>
        </p:spPr>
      </p:sp>
      <p:sp>
        <p:nvSpPr>
          <p:cNvPr id="51" name="Fold 5-2"/>
          <p:cNvSpPr/>
          <p:nvPr/>
        </p:nvSpPr>
        <p:spPr>
          <a:xfrm>
            <a:off x="6693408" y="4005072"/>
            <a:ext cx="384048" cy="155448"/>
          </a:xfrm>
          <a:prstGeom prst="rect">
            <a:avLst/>
          </a:prstGeom>
          <a:solidFill>
            <a:schemeClr val="accent5"/>
          </a:solidFill>
          <a:ln/>
        </p:spPr>
      </p:sp>
      <p:sp>
        <p:nvSpPr>
          <p:cNvPr id="52" name="Fold 5-3"/>
          <p:cNvSpPr/>
          <p:nvPr/>
        </p:nvSpPr>
        <p:spPr>
          <a:xfrm>
            <a:off x="7123176" y="4005072"/>
            <a:ext cx="384048" cy="155448"/>
          </a:xfrm>
          <a:prstGeom prst="rect">
            <a:avLst/>
          </a:prstGeom>
          <a:solidFill>
            <a:schemeClr val="accent5"/>
          </a:solidFill>
          <a:ln/>
        </p:spPr>
      </p:sp>
      <p:sp>
        <p:nvSpPr>
          <p:cNvPr id="53" name="Fold 5-4"/>
          <p:cNvSpPr/>
          <p:nvPr/>
        </p:nvSpPr>
        <p:spPr>
          <a:xfrm>
            <a:off x="7552944" y="4005072"/>
            <a:ext cx="384048" cy="155448"/>
          </a:xfrm>
          <a:prstGeom prst="rect">
            <a:avLst/>
          </a:prstGeom>
          <a:solidFill>
            <a:schemeClr val="accent5"/>
          </a:solidFill>
          <a:ln/>
        </p:spPr>
      </p:sp>
      <p:sp>
        <p:nvSpPr>
          <p:cNvPr id="54" name="Fold 5-5"/>
          <p:cNvSpPr/>
          <p:nvPr/>
        </p:nvSpPr>
        <p:spPr>
          <a:xfrm>
            <a:off x="7982712" y="4005072"/>
            <a:ext cx="384048" cy="155448"/>
          </a:xfrm>
          <a:prstGeom prst="rect">
            <a:avLst/>
          </a:prstGeom>
          <a:solidFill>
            <a:schemeClr val="accent1"/>
          </a:solidFill>
          <a:ln/>
        </p:spPr>
      </p:sp>
      <p:sp>
        <p:nvSpPr>
          <p:cNvPr id="55" name="Legend test"/>
          <p:cNvSpPr/>
          <p:nvPr/>
        </p:nvSpPr>
        <p:spPr>
          <a:xfrm>
            <a:off x="6263640" y="4315968"/>
            <a:ext cx="155448" cy="155448"/>
          </a:xfrm>
          <a:prstGeom prst="rect">
            <a:avLst/>
          </a:prstGeom>
          <a:solidFill>
            <a:schemeClr val="accent1"/>
          </a:solidFill>
          <a:ln/>
        </p:spPr>
      </p:sp>
      <p:sp>
        <p:nvSpPr>
          <p:cNvPr id="56" name="Text 51"/>
          <p:cNvSpPr txBox="1"/>
          <p:nvPr/>
        </p:nvSpPr>
        <p:spPr>
          <a:xfrm>
            <a:off x="6464808" y="4270248"/>
            <a:ext cx="457200" cy="246888"/>
          </a:xfrm>
          <a:prstGeom prst="rect">
            <a:avLst/>
          </a:prstGeom>
          <a:noFill/>
          <a:ln/>
        </p:spPr>
        <p:txBody>
          <a:bodyPr wrap="square" lIns="0" tIns="0" rIns="0" bIns="0" rtlCol="0" anchor="ctr"/>
          <a:lstStyle/>
          <a:p>
            <a:pPr indent="0" marL="0">
              <a:buNone/>
            </a:pPr>
            <a:r>
              <a:rPr lang="en-US" sz="1100" dirty="0">
                <a:solidFill>
                  <a:schemeClr val="tx2"/>
                </a:solidFill>
              </a:rPr>
              <a:t>test</a:t>
            </a:r>
            <a:endParaRPr lang="en-US" sz="1100" dirty="0"/>
          </a:p>
        </p:txBody>
      </p:sp>
      <p:sp>
        <p:nvSpPr>
          <p:cNvPr id="57" name="Legend train"/>
          <p:cNvSpPr/>
          <p:nvPr/>
        </p:nvSpPr>
        <p:spPr>
          <a:xfrm>
            <a:off x="6995160" y="4315968"/>
            <a:ext cx="155448" cy="155448"/>
          </a:xfrm>
          <a:prstGeom prst="rect">
            <a:avLst/>
          </a:prstGeom>
          <a:solidFill>
            <a:schemeClr val="accent5"/>
          </a:solidFill>
          <a:ln/>
        </p:spPr>
      </p:sp>
      <p:sp>
        <p:nvSpPr>
          <p:cNvPr id="58" name="Text 53"/>
          <p:cNvSpPr txBox="1"/>
          <p:nvPr/>
        </p:nvSpPr>
        <p:spPr>
          <a:xfrm>
            <a:off x="7196328" y="4270248"/>
            <a:ext cx="548640" cy="246888"/>
          </a:xfrm>
          <a:prstGeom prst="rect">
            <a:avLst/>
          </a:prstGeom>
          <a:noFill/>
          <a:ln/>
        </p:spPr>
        <p:txBody>
          <a:bodyPr wrap="square" lIns="0" tIns="0" rIns="0" bIns="0" rtlCol="0" anchor="ctr"/>
          <a:lstStyle/>
          <a:p>
            <a:pPr indent="0" marL="0">
              <a:buNone/>
            </a:pPr>
            <a:r>
              <a:rPr lang="en-US" sz="1100" dirty="0">
                <a:solidFill>
                  <a:schemeClr val="tx2"/>
                </a:solidFill>
              </a:rPr>
              <a:t>train</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Results: Model Comparison</a:t>
            </a:r>
            <a:endParaRPr lang="en-US" sz="3200" dirty="0"/>
          </a:p>
        </p:txBody>
      </p:sp>
      <p:graphicFrame>
        <p:nvGraphicFramePr>
          <p:cNvPr id="3" name="Model comparison chart" descr=""/>
          <p:cNvGraphicFramePr/>
          <p:nvPr/>
        </p:nvGraphicFramePr>
        <p:xfrm>
          <a:off x="457200" y="1097280"/>
          <a:ext cx="5394960" cy="3520440"/>
        </p:xfrm>
        <a:graphic xmlns:a="http://schemas.openxmlformats.org/drawingml/2006/main">
          <a:graphicData uri="http://schemas.openxmlformats.org/drawingml/2006/chart">
            <c:chart xmlns:c="http://schemas.openxmlformats.org/drawingml/2006/chart" r:id="rId1"/>
          </a:graphicData>
        </a:graphic>
      </p:graphicFrame>
      <p:sp>
        <p:nvSpPr>
          <p:cNvPr id="4" name="Best model card"/>
          <p:cNvSpPr/>
          <p:nvPr/>
        </p:nvSpPr>
        <p:spPr>
          <a:xfrm>
            <a:off x="6172200" y="1188720"/>
            <a:ext cx="2514600" cy="1920240"/>
          </a:xfrm>
          <a:prstGeom prst="rect">
            <a:avLst/>
          </a:prstGeom>
          <a:solidFill>
            <a:schemeClr val="tx1"/>
          </a:solidFill>
          <a:ln/>
          <a:effectLst>
            <a:outerShdw sx="100000" sy="100000" kx="0" ky="0" algn="bl" rotWithShape="0" blurRad="76200" dist="25400" dir="5400000">
              <a:srgbClr val="000000">
                <a:alpha val="12000"/>
              </a:srgbClr>
            </a:outerShdw>
          </a:effectLst>
        </p:spPr>
      </p:sp>
      <p:sp>
        <p:nvSpPr>
          <p:cNvPr id="5" name="Text 2"/>
          <p:cNvSpPr txBox="1"/>
          <p:nvPr/>
        </p:nvSpPr>
        <p:spPr>
          <a:xfrm>
            <a:off x="6355080" y="1298448"/>
            <a:ext cx="2194560" cy="274320"/>
          </a:xfrm>
          <a:prstGeom prst="rect">
            <a:avLst/>
          </a:prstGeom>
          <a:noFill/>
          <a:ln/>
        </p:spPr>
        <p:txBody>
          <a:bodyPr wrap="square" lIns="0" tIns="0" rIns="0" bIns="0" rtlCol="0" anchor="ctr"/>
          <a:lstStyle/>
          <a:p>
            <a:pPr indent="0" marL="0">
              <a:buNone/>
            </a:pPr>
            <a:r>
              <a:rPr lang="en-US" sz="1100" b="1" spc="200" kern="0" dirty="0">
                <a:solidFill>
                  <a:schemeClr val="accent5"/>
                </a:solidFill>
              </a:rPr>
              <a:t>BEST MODEL</a:t>
            </a:r>
            <a:endParaRPr lang="en-US" sz="1100" dirty="0"/>
          </a:p>
        </p:txBody>
      </p:sp>
      <p:sp>
        <p:nvSpPr>
          <p:cNvPr id="6" name="Text 3"/>
          <p:cNvSpPr txBox="1"/>
          <p:nvPr/>
        </p:nvSpPr>
        <p:spPr>
          <a:xfrm>
            <a:off x="6355080" y="1572768"/>
            <a:ext cx="2194560" cy="365760"/>
          </a:xfrm>
          <a:prstGeom prst="rect">
            <a:avLst/>
          </a:prstGeom>
          <a:noFill/>
          <a:ln/>
        </p:spPr>
        <p:txBody>
          <a:bodyPr wrap="square" lIns="0" tIns="0" rIns="0" bIns="0" rtlCol="0" anchor="ctr"/>
          <a:lstStyle/>
          <a:p>
            <a:pPr indent="0" marL="0">
              <a:buNone/>
            </a:pPr>
            <a:r>
              <a:rPr lang="en-US" sz="1800" b="1" dirty="0">
                <a:solidFill>
                  <a:schemeClr val="bg1"/>
                </a:solidFill>
              </a:rPr>
              <a:t>Logistic Regression</a:t>
            </a:r>
            <a:endParaRPr lang="en-US" sz="1800" dirty="0"/>
          </a:p>
        </p:txBody>
      </p:sp>
      <p:sp>
        <p:nvSpPr>
          <p:cNvPr id="7" name="Text 4"/>
          <p:cNvSpPr txBox="1"/>
          <p:nvPr/>
        </p:nvSpPr>
        <p:spPr>
          <a:xfrm>
            <a:off x="6355080" y="1965960"/>
            <a:ext cx="2194560" cy="68580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88.9%</a:t>
            </a:r>
            <a:endParaRPr lang="en-US" sz="4000" dirty="0"/>
          </a:p>
        </p:txBody>
      </p:sp>
      <p:sp>
        <p:nvSpPr>
          <p:cNvPr id="8" name="Text 5"/>
          <p:cNvSpPr txBox="1"/>
          <p:nvPr/>
        </p:nvSpPr>
        <p:spPr>
          <a:xfrm>
            <a:off x="6355080" y="2651760"/>
            <a:ext cx="2194560" cy="274320"/>
          </a:xfrm>
          <a:prstGeom prst="rect">
            <a:avLst/>
          </a:prstGeom>
          <a:noFill/>
          <a:ln/>
        </p:spPr>
        <p:txBody>
          <a:bodyPr wrap="square" lIns="0" tIns="0" rIns="0" bIns="0" rtlCol="0" anchor="ctr"/>
          <a:lstStyle/>
          <a:p>
            <a:pPr indent="0" marL="0">
              <a:buNone/>
            </a:pPr>
            <a:r>
              <a:rPr lang="en-US" sz="1200" dirty="0">
                <a:solidFill>
                  <a:schemeClr val="accent5"/>
                </a:solidFill>
              </a:rPr>
              <a:t>5-fold CV accuracy</a:t>
            </a:r>
            <a:endParaRPr lang="en-US" sz="1200" dirty="0"/>
          </a:p>
        </p:txBody>
      </p:sp>
      <p:sp>
        <p:nvSpPr>
          <p:cNvPr id="9" name="Text 6"/>
          <p:cNvSpPr txBox="1"/>
          <p:nvPr/>
        </p:nvSpPr>
        <p:spPr>
          <a:xfrm>
            <a:off x="6172200" y="3291840"/>
            <a:ext cx="2514600" cy="1234440"/>
          </a:xfrm>
          <a:prstGeom prst="rect">
            <a:avLst/>
          </a:prstGeom>
          <a:noFill/>
          <a:ln/>
        </p:spPr>
        <p:txBody>
          <a:bodyPr wrap="square" lIns="0" tIns="0" rIns="0" bIns="0" rtlCol="0" anchor="t"/>
          <a:lstStyle/>
          <a:p>
            <a:pPr indent="0" marL="0">
              <a:buNone/>
            </a:pPr>
            <a:r>
              <a:rPr lang="en-US" sz="1400" dirty="0">
                <a:solidFill>
                  <a:schemeClr val="tx2"/>
                </a:solidFill>
              </a:rPr>
              <a:t>Picked by CV accuracy, which is more reliable than one small test split. Numbers come from the small demo dataset (80 articles).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Evaluation of the Best Model</a:t>
            </a:r>
            <a:endParaRPr lang="en-US" sz="3200" dirty="0"/>
          </a:p>
        </p:txBody>
      </p:sp>
      <p:pic>
        <p:nvPicPr>
          <p:cNvPr id="3" name="Confusion matrix" descr="Confusion matrix of Logistic Regression on the test set">    </p:cNvPr>
          <p:cNvPicPr>
            <a:picLocks noChangeAspect="1"/>
          </p:cNvPicPr>
          <p:nvPr/>
        </p:nvPicPr>
        <p:blipFill>
          <a:blip r:embed="rId1"/>
          <a:stretch>
            <a:fillRect/>
          </a:stretch>
        </p:blipFill>
        <p:spPr>
          <a:xfrm>
            <a:off x="457200" y="1097280"/>
            <a:ext cx="4288536" cy="3429000"/>
          </a:xfrm>
          <a:prstGeom prst="rect">
            <a:avLst/>
          </a:prstGeom>
        </p:spPr>
      </p:pic>
      <p:graphicFrame>
        <p:nvGraphicFramePr>
          <p:cNvPr id="12" name="Classification report"/>
          <p:cNvGraphicFramePr>
            <a:graphicFrameLocks noGrp="1"/>
          </p:cNvGraphicFramePr>
          <p:nvPr>
            <p:extLst>
              <p:ext uri="{D42A27DB-BD31-4B8C-83A1-F6EECF244321}">
                <p14:modId xmlns:p14="http://schemas.microsoft.com/office/powerpoint/2010/main" val="1579011935"/>
              </p:ext>
            </p:extLst>
          </p:nvPr>
        </p:nvGraphicFramePr>
        <p:xfrm>
          <a:off x="5029200" y="1188720"/>
          <a:ext cx="3657600" cy="914400"/>
        </p:xfrm>
        <a:graphic>
          <a:graphicData uri="http://schemas.openxmlformats.org/drawingml/2006/table">
            <a:tbl>
              <a:tblPr/>
              <a:tblGrid>
                <a:gridCol w="914400"/>
                <a:gridCol w="914400"/>
                <a:gridCol w="914400"/>
                <a:gridCol w="914400"/>
              </a:tblGrid>
              <a:tr h="329184">
                <a:tc>
                  <a:txBody>
                    <a:bodyPr/>
                    <a:lstStyle/>
                    <a:p>
                      <a:pPr algn="ctr" indent="0" marL="0">
                        <a:buNone/>
                      </a:pPr>
                      <a:r>
                        <a:rPr lang="en-US" sz="1300" b="1" dirty="0">
                          <a:solidFill>
                            <a:schemeClr val="bg1"/>
                          </a:solidFill>
                        </a:rPr>
                        <a:t>Class</a:t>
                      </a:r>
                      <a:endParaRPr lang="en-US" sz="1300" dirty="0"/>
                    </a:p>
                  </a:txBody>
                  <a:tcPr marL="91440" marR="91440" marT="45720" marB="45720">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Precision</a:t>
                      </a:r>
                      <a:endParaRPr lang="en-US" sz="1300" dirty="0"/>
                    </a:p>
                  </a:txBody>
                  <a:tcPr marL="91440" marR="91440" marT="45720" marB="45720">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Recall</a:t>
                      </a:r>
                      <a:endParaRPr lang="en-US" sz="1300" dirty="0"/>
                    </a:p>
                  </a:txBody>
                  <a:tcPr marL="91440" marR="91440" marT="45720" marB="45720">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F1-score</a:t>
                      </a:r>
                      <a:endParaRPr lang="en-US" sz="1300" dirty="0"/>
                    </a:p>
                  </a:txBody>
                  <a:tcPr marL="91440" marR="91440" marT="45720" marB="45720">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tx1"/>
                    </a:solidFill>
                  </a:tcPr>
                </a:tc>
              </a:tr>
              <a:tr h="329184">
                <a:tc>
                  <a:txBody>
                    <a:bodyPr/>
                    <a:lstStyle/>
                    <a:p>
                      <a:pPr algn="ctr" indent="0" marL="0">
                        <a:buNone/>
                      </a:pPr>
                      <a:r>
                        <a:rPr lang="en-US" sz="1300" b="1" dirty="0">
                          <a:solidFill>
                            <a:schemeClr val="tx1"/>
                          </a:solidFill>
                        </a:rPr>
                        <a:t>REAL</a:t>
                      </a:r>
                      <a:endParaRPr lang="en-US" sz="1300" dirty="0"/>
                    </a:p>
                  </a:txBody>
                  <a:tcPr marL="91440" marR="91440" marT="45720" marB="45720">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0.75</a:t>
                      </a:r>
                      <a:endParaRPr lang="en-US" sz="1300" dirty="0"/>
                    </a:p>
                  </a:txBody>
                  <a:tcPr marL="91440" marR="91440" marT="45720" marB="45720">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0.75</a:t>
                      </a:r>
                      <a:endParaRPr lang="en-US" sz="1300" dirty="0"/>
                    </a:p>
                  </a:txBody>
                  <a:tcPr marL="91440" marR="91440" marT="45720" marB="45720">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0.75</a:t>
                      </a:r>
                      <a:endParaRPr lang="en-US" sz="1300" dirty="0"/>
                    </a:p>
                  </a:txBody>
                  <a:tcPr marL="91440" marR="91440" marT="45720" marB="45720">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r>
              <a:tr h="329184">
                <a:tc>
                  <a:txBody>
                    <a:bodyPr/>
                    <a:lstStyle/>
                    <a:p>
                      <a:pPr algn="ctr" indent="0" marL="0">
                        <a:buNone/>
                      </a:pPr>
                      <a:r>
                        <a:rPr lang="en-US" sz="1300" b="1" dirty="0">
                          <a:solidFill>
                            <a:schemeClr val="tx1"/>
                          </a:solidFill>
                        </a:rPr>
                        <a:t>FAKE</a:t>
                      </a:r>
                      <a:endParaRPr lang="en-US" sz="1300" dirty="0"/>
                    </a:p>
                  </a:txBody>
                  <a:tcPr marL="91440" marR="91440" marT="45720" marB="45720">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0.75</a:t>
                      </a:r>
                      <a:endParaRPr lang="en-US" sz="1300" dirty="0"/>
                    </a:p>
                  </a:txBody>
                  <a:tcPr marL="91440" marR="91440" marT="45720" marB="45720">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0.75</a:t>
                      </a:r>
                      <a:endParaRPr lang="en-US" sz="1300" dirty="0"/>
                    </a:p>
                  </a:txBody>
                  <a:tcPr marL="91440" marR="91440" marT="45720" marB="45720">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0.75</a:t>
                      </a:r>
                      <a:endParaRPr lang="en-US" sz="1300" dirty="0"/>
                    </a:p>
                  </a:txBody>
                  <a:tcPr marL="91440" marR="91440" marT="45720" marB="45720">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r>
              <a:tr h="329184">
                <a:tc>
                  <a:txBody>
                    <a:bodyPr/>
                    <a:lstStyle/>
                    <a:p>
                      <a:pPr algn="ctr" indent="0" marL="0">
                        <a:buNone/>
                      </a:pPr>
                      <a:r>
                        <a:rPr lang="en-US" sz="1300" b="1" dirty="0">
                          <a:solidFill>
                            <a:schemeClr val="tx1"/>
                          </a:solidFill>
                        </a:rPr>
                        <a:t>Accuracy</a:t>
                      </a:r>
                      <a:endParaRPr lang="en-US" sz="1300" dirty="0"/>
                    </a:p>
                  </a:txBody>
                  <a:tcPr marL="91440" marR="91440" marT="45720" marB="45720">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algn="ctr" indent="0" marL="0">
                        <a:buNone/>
                      </a:pPr>
                      <a:endParaRPr lang="en-US" sz="1300" dirty="0"/>
                    </a:p>
                  </a:txBody>
                  <a:tcPr marL="91440" marR="91440" marT="45720" marB="45720">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algn="ctr" indent="0" marL="0">
                        <a:buNone/>
                      </a:pPr>
                      <a:endParaRPr lang="en-US" sz="1300" dirty="0"/>
                    </a:p>
                  </a:txBody>
                  <a:tcPr marL="91440" marR="91440" marT="45720" marB="45720">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0.75</a:t>
                      </a:r>
                      <a:endParaRPr lang="en-US" sz="1300" dirty="0"/>
                    </a:p>
                  </a:txBody>
                  <a:tcPr marL="91440" marR="91440" marT="45720" marB="45720">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5029200" y="2834640"/>
            <a:ext cx="3657600" cy="169164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Precision: </a:t>
            </a:r>
            <a:pPr indent="0" marL="0">
              <a:spcAft>
                <a:spcPts val="800"/>
              </a:spcAft>
              <a:buNone/>
            </a:pPr>
            <a:r>
              <a:rPr lang="en-US" sz="1400" dirty="0">
                <a:solidFill>
                  <a:schemeClr val="tx2"/>
                </a:solidFill>
              </a:rPr>
              <a:t>of articles predicted FAKE, how many really were fake</a:t>
            </a:r>
            <a:endParaRPr lang="en-US" sz="1400" dirty="0"/>
          </a:p>
          <a:p>
            <a:pPr indent="0" marL="0">
              <a:spcAft>
                <a:spcPts val="800"/>
              </a:spcAft>
              <a:buNone/>
            </a:pPr>
            <a:r>
              <a:rPr lang="en-US" sz="1400" b="1" dirty="0">
                <a:solidFill>
                  <a:schemeClr val="tx1"/>
                </a:solidFill>
              </a:rPr>
              <a:t>Recall: </a:t>
            </a:r>
            <a:pPr indent="0" marL="0">
              <a:spcAft>
                <a:spcPts val="800"/>
              </a:spcAft>
              <a:buNone/>
            </a:pPr>
            <a:r>
              <a:rPr lang="en-US" sz="1400" dirty="0">
                <a:solidFill>
                  <a:schemeClr val="tx2"/>
                </a:solidFill>
              </a:rPr>
              <a:t>of all fake articles, how many the model caught</a:t>
            </a:r>
            <a:endParaRPr lang="en-US" sz="1400" dirty="0"/>
          </a:p>
          <a:p>
            <a:pPr indent="0" marL="0">
              <a:spcAft>
                <a:spcPts val="800"/>
              </a:spcAft>
              <a:buNone/>
            </a:pPr>
            <a:r>
              <a:rPr lang="en-US" sz="1400" b="1" dirty="0">
                <a:solidFill>
                  <a:schemeClr val="tx1"/>
                </a:solidFill>
              </a:rPr>
              <a:t>F1-score: </a:t>
            </a:r>
            <a:pPr indent="0" marL="0">
              <a:spcAft>
                <a:spcPts val="800"/>
              </a:spcAft>
              <a:buNone/>
            </a:pPr>
            <a:r>
              <a:rPr lang="en-US" sz="1400" dirty="0">
                <a:solidFill>
                  <a:schemeClr val="tx2"/>
                </a:solidFill>
              </a:rPr>
              <a:t>balance of precision and recall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Web Application (Streamlit)</a:t>
            </a:r>
            <a:endParaRPr lang="en-US" sz="3200" dirty="0"/>
          </a:p>
        </p:txBody>
      </p:sp>
      <p:sp>
        <p:nvSpPr>
          <p:cNvPr id="3" name="Text 1"/>
          <p:cNvSpPr txBox="1"/>
          <p:nvPr/>
        </p:nvSpPr>
        <p:spPr>
          <a:xfrm>
            <a:off x="457200" y="1188720"/>
            <a:ext cx="3657600" cy="2286000"/>
          </a:xfrm>
          <a:prstGeom prst="rect">
            <a:avLst/>
          </a:prstGeom>
          <a:noFill/>
          <a:ln/>
        </p:spPr>
        <p:txBody>
          <a:bodyPr wrap="square" lIns="0" tIns="0" rIns="0" bIns="0" rtlCol="0" anchor="t"/>
          <a:lstStyle/>
          <a:p>
            <a:pPr marL="279400" indent="-279400">
              <a:spcAft>
                <a:spcPts val="1000"/>
              </a:spcAft>
              <a:buSzPct val="100000"/>
              <a:buFont typeface="+mj-lt"/>
              <a:buAutoNum type="arabicPeriod" startAt="1"/>
            </a:pPr>
            <a:r>
              <a:rPr lang="en-US" sz="1600" dirty="0">
                <a:solidFill>
                  <a:schemeClr val="tx1"/>
                </a:solidFill>
              </a:rPr>
              <a:t>User pastes a headline or article</a:t>
            </a:r>
            <a:endParaRPr lang="en-US" sz="1600" dirty="0"/>
          </a:p>
          <a:p>
            <a:pPr marL="279400" indent="-279400">
              <a:spcAft>
                <a:spcPts val="1000"/>
              </a:spcAft>
              <a:buSzPct val="100000"/>
              <a:buFont typeface="+mj-lt"/>
              <a:buAutoNum type="arabicPeriod" startAt="1"/>
            </a:pPr>
            <a:r>
              <a:rPr lang="en-US" sz="1600" dirty="0">
                <a:solidFill>
                  <a:schemeClr val="tx1"/>
                </a:solidFill>
              </a:rPr>
              <a:t>Text is cleaned the same way as in training</a:t>
            </a:r>
            <a:endParaRPr lang="en-US" sz="1600" dirty="0"/>
          </a:p>
          <a:p>
            <a:pPr marL="279400" indent="-279400">
              <a:spcAft>
                <a:spcPts val="1000"/>
              </a:spcAft>
              <a:buSzPct val="100000"/>
              <a:buFont typeface="+mj-lt"/>
              <a:buAutoNum type="arabicPeriod" startAt="1"/>
            </a:pPr>
            <a:r>
              <a:rPr lang="en-US" sz="1600" dirty="0">
                <a:solidFill>
                  <a:schemeClr val="tx1"/>
                </a:solidFill>
              </a:rPr>
              <a:t>Saved model predicts REAL or FAKE</a:t>
            </a:r>
            <a:endParaRPr lang="en-US" sz="1600" dirty="0"/>
          </a:p>
          <a:p>
            <a:pPr marL="279400" indent="-279400">
              <a:spcAft>
                <a:spcPts val="1000"/>
              </a:spcAft>
              <a:buSzPct val="100000"/>
              <a:buFont typeface="+mj-lt"/>
              <a:buAutoNum type="arabicPeriod" startAt="1"/>
            </a:pPr>
            <a:r>
              <a:rPr lang="en-US" sz="1600" dirty="0">
                <a:solidFill>
                  <a:schemeClr val="tx1"/>
                </a:solidFill>
              </a:rPr>
              <a:t>App shows the result with a confidence score</a:t>
            </a:r>
            <a:endParaRPr lang="en-US" sz="1600" dirty="0"/>
          </a:p>
        </p:txBody>
      </p:sp>
      <p:sp>
        <p:nvSpPr>
          <p:cNvPr id="4" name="Text 2"/>
          <p:cNvSpPr txBox="1"/>
          <p:nvPr/>
        </p:nvSpPr>
        <p:spPr>
          <a:xfrm>
            <a:off x="457200" y="3520440"/>
            <a:ext cx="3657600" cy="274320"/>
          </a:xfrm>
          <a:prstGeom prst="rect">
            <a:avLst/>
          </a:prstGeom>
          <a:noFill/>
          <a:ln/>
        </p:spPr>
        <p:txBody>
          <a:bodyPr wrap="square" lIns="0" tIns="0" rIns="0" bIns="0" rtlCol="0" anchor="ctr"/>
          <a:lstStyle/>
          <a:p>
            <a:pPr indent="0" marL="0">
              <a:buNone/>
            </a:pPr>
            <a:r>
              <a:rPr lang="en-US" sz="1200" dirty="0">
                <a:solidFill>
                  <a:schemeClr val="tx2"/>
                </a:solidFill>
              </a:rPr>
              <a:t>Run it with:</a:t>
            </a:r>
            <a:endParaRPr lang="en-US" sz="1200" dirty="0"/>
          </a:p>
        </p:txBody>
      </p:sp>
      <p:sp>
        <p:nvSpPr>
          <p:cNvPr id="5" name="Command box"/>
          <p:cNvSpPr/>
          <p:nvPr/>
        </p:nvSpPr>
        <p:spPr>
          <a:xfrm>
            <a:off x="457200" y="3840480"/>
            <a:ext cx="3657600" cy="548640"/>
          </a:xfrm>
          <a:prstGeom prst="rect">
            <a:avLst/>
          </a:prstGeom>
          <a:solidFill>
            <a:schemeClr val="tx1"/>
          </a:solidFill>
          <a:ln/>
          <a:effectLst>
            <a:outerShdw sx="100000" sy="100000" kx="0" ky="0" algn="bl" rotWithShape="0" blurRad="76200" dist="25400" dir="5400000">
              <a:srgbClr val="000000">
                <a:alpha val="12000"/>
              </a:srgbClr>
            </a:outerShdw>
          </a:effectLst>
        </p:spPr>
      </p:sp>
      <p:sp>
        <p:nvSpPr>
          <p:cNvPr id="6" name="Text 4"/>
          <p:cNvSpPr txBox="1"/>
          <p:nvPr/>
        </p:nvSpPr>
        <p:spPr>
          <a:xfrm>
            <a:off x="640080" y="3840480"/>
            <a:ext cx="3383280" cy="548640"/>
          </a:xfrm>
          <a:prstGeom prst="rect">
            <a:avLst/>
          </a:prstGeom>
          <a:noFill/>
          <a:ln/>
        </p:spPr>
        <p:txBody>
          <a:bodyPr wrap="square" lIns="0" tIns="0" rIns="0" bIns="0" rtlCol="0" anchor="ctr"/>
          <a:lstStyle/>
          <a:p>
            <a:pPr indent="0" marL="0">
              <a:buNone/>
            </a:pPr>
            <a:r>
              <a:rPr lang="en-US" sz="1500" dirty="0">
                <a:solidFill>
                  <a:schemeClr val="bg1"/>
                </a:solidFill>
                <a:latin typeface="Courier New" pitchFamily="34" charset="0"/>
                <a:ea typeface="Courier New" pitchFamily="34" charset="-122"/>
                <a:cs typeface="Courier New" pitchFamily="34" charset="-120"/>
              </a:rPr>
              <a:t>streamlit run app.py</a:t>
            </a:r>
            <a:endParaRPr lang="en-US" sz="1500" dirty="0"/>
          </a:p>
        </p:txBody>
      </p:sp>
      <p:sp>
        <p:nvSpPr>
          <p:cNvPr id="7" name="App window"/>
          <p:cNvSpPr/>
          <p:nvPr/>
        </p:nvSpPr>
        <p:spPr>
          <a:xfrm>
            <a:off x="4480560" y="1143000"/>
            <a:ext cx="4206240" cy="3474720"/>
          </a:xfrm>
          <a:prstGeom prst="rect">
            <a:avLst/>
          </a:prstGeom>
          <a:solidFill>
            <a:schemeClr val="bg1"/>
          </a:solidFill>
          <a:ln w="12700">
            <a:solidFill>
              <a:srgbClr val="D5DAE0"/>
            </a:solidFill>
            <a:prstDash val="solid"/>
          </a:ln>
          <a:effectLst>
            <a:outerShdw sx="100000" sy="100000" kx="0" ky="0" algn="bl" rotWithShape="0" blurRad="76200" dist="25400" dir="5400000">
              <a:srgbClr val="000000">
                <a:alpha val="12000"/>
              </a:srgbClr>
            </a:outerShdw>
          </a:effectLst>
        </p:spPr>
      </p:sp>
      <p:sp>
        <p:nvSpPr>
          <p:cNvPr id="8" name="App window bar"/>
          <p:cNvSpPr/>
          <p:nvPr/>
        </p:nvSpPr>
        <p:spPr>
          <a:xfrm>
            <a:off x="4480560" y="1143000"/>
            <a:ext cx="4206240" cy="274320"/>
          </a:xfrm>
          <a:prstGeom prst="rect">
            <a:avLst/>
          </a:prstGeom>
          <a:solidFill>
            <a:schemeClr val="bg2"/>
          </a:solidFill>
          <a:ln/>
        </p:spPr>
      </p:sp>
      <p:sp>
        <p:nvSpPr>
          <p:cNvPr id="9" name="Window dot 1"/>
          <p:cNvSpPr/>
          <p:nvPr/>
        </p:nvSpPr>
        <p:spPr>
          <a:xfrm>
            <a:off x="4590288" y="1234440"/>
            <a:ext cx="91440" cy="91440"/>
          </a:xfrm>
          <a:prstGeom prst="ellipse">
            <a:avLst/>
          </a:prstGeom>
          <a:solidFill>
            <a:srgbClr val="C0392B"/>
          </a:solidFill>
          <a:ln/>
        </p:spPr>
      </p:sp>
      <p:sp>
        <p:nvSpPr>
          <p:cNvPr id="10" name="Window dot 2"/>
          <p:cNvSpPr/>
          <p:nvPr/>
        </p:nvSpPr>
        <p:spPr>
          <a:xfrm>
            <a:off x="4754880" y="1234440"/>
            <a:ext cx="91440" cy="91440"/>
          </a:xfrm>
          <a:prstGeom prst="ellipse">
            <a:avLst/>
          </a:prstGeom>
          <a:solidFill>
            <a:srgbClr val="E0A800"/>
          </a:solidFill>
          <a:ln/>
        </p:spPr>
      </p:sp>
      <p:sp>
        <p:nvSpPr>
          <p:cNvPr id="11" name="Window dot 3"/>
          <p:cNvSpPr/>
          <p:nvPr/>
        </p:nvSpPr>
        <p:spPr>
          <a:xfrm>
            <a:off x="4919472" y="1234440"/>
            <a:ext cx="91440" cy="91440"/>
          </a:xfrm>
          <a:prstGeom prst="ellipse">
            <a:avLst/>
          </a:prstGeom>
          <a:solidFill>
            <a:srgbClr val="2E8B57"/>
          </a:solidFill>
          <a:ln/>
        </p:spPr>
      </p:sp>
      <p:sp>
        <p:nvSpPr>
          <p:cNvPr id="12" name="Text 10"/>
          <p:cNvSpPr txBox="1"/>
          <p:nvPr/>
        </p:nvSpPr>
        <p:spPr>
          <a:xfrm>
            <a:off x="4663440" y="1508760"/>
            <a:ext cx="3840480" cy="365760"/>
          </a:xfrm>
          <a:prstGeom prst="rect">
            <a:avLst/>
          </a:prstGeom>
          <a:noFill/>
          <a:ln/>
        </p:spPr>
        <p:txBody>
          <a:bodyPr wrap="square" lIns="0" tIns="0" rIns="0" bIns="0" rtlCol="0" anchor="ctr"/>
          <a:lstStyle/>
          <a:p>
            <a:pPr indent="0" marL="0">
              <a:buNone/>
            </a:pPr>
            <a:r>
              <a:rPr lang="en-US" sz="1800" b="1" dirty="0">
                <a:solidFill>
                  <a:schemeClr val="tx1"/>
                </a:solidFill>
              </a:rPr>
              <a:t>Fake News Detector</a:t>
            </a:r>
            <a:endParaRPr lang="en-US" sz="1800" dirty="0"/>
          </a:p>
        </p:txBody>
      </p:sp>
      <p:sp>
        <p:nvSpPr>
          <p:cNvPr id="13" name="Text 11"/>
          <p:cNvSpPr txBox="1"/>
          <p:nvPr/>
        </p:nvSpPr>
        <p:spPr>
          <a:xfrm>
            <a:off x="4663440" y="1901952"/>
            <a:ext cx="3840480" cy="228600"/>
          </a:xfrm>
          <a:prstGeom prst="rect">
            <a:avLst/>
          </a:prstGeom>
          <a:noFill/>
          <a:ln/>
        </p:spPr>
        <p:txBody>
          <a:bodyPr wrap="square" lIns="0" tIns="0" rIns="0" bIns="0" rtlCol="0" anchor="ctr"/>
          <a:lstStyle/>
          <a:p>
            <a:pPr indent="0" marL="0">
              <a:buNone/>
            </a:pPr>
            <a:r>
              <a:rPr lang="en-US" sz="1100" dirty="0">
                <a:solidFill>
                  <a:schemeClr val="tx2"/>
                </a:solidFill>
              </a:rPr>
              <a:t>News text</a:t>
            </a:r>
            <a:endParaRPr lang="en-US" sz="1100" dirty="0"/>
          </a:p>
        </p:txBody>
      </p:sp>
      <p:sp>
        <p:nvSpPr>
          <p:cNvPr id="14" name="Text 12"/>
          <p:cNvSpPr txBox="1"/>
          <p:nvPr/>
        </p:nvSpPr>
        <p:spPr>
          <a:xfrm>
            <a:off x="4663440" y="2148840"/>
            <a:ext cx="3840480" cy="777240"/>
          </a:xfrm>
          <a:prstGeom prst="rect">
            <a:avLst/>
          </a:prstGeom>
          <a:noFill/>
          <a:ln w="12700">
            <a:solidFill>
              <a:srgbClr val="D5DAE0"/>
            </a:solidFill>
          </a:ln>
        </p:spPr>
        <p:txBody>
          <a:bodyPr wrap="square" lIns="76200" tIns="76200" rIns="76200" bIns="76200" rtlCol="0" anchor="t"/>
          <a:lstStyle/>
          <a:p>
            <a:pPr indent="0" marL="0">
              <a:buNone/>
            </a:pPr>
            <a:r>
              <a:rPr lang="en-US" sz="1200" dirty="0">
                <a:solidFill>
                  <a:schemeClr val="tx1"/>
                </a:solidFill>
              </a:rPr>
              <a:t>SHOCKING: Drinking hot water every hour cures all diseases, doctors are hiding the truth! Share before it gets deleted!</a:t>
            </a:r>
            <a:endParaRPr lang="en-US" sz="1200" dirty="0"/>
          </a:p>
        </p:txBody>
      </p:sp>
      <p:sp>
        <p:nvSpPr>
          <p:cNvPr id="15" name="Text 13"/>
          <p:cNvSpPr txBox="1"/>
          <p:nvPr/>
        </p:nvSpPr>
        <p:spPr>
          <a:xfrm>
            <a:off x="4663440" y="3017520"/>
            <a:ext cx="1188720" cy="320040"/>
          </a:xfrm>
          <a:prstGeom prst="roundRect">
            <a:avLst>
              <a:gd name="adj" fmla="val 17143"/>
            </a:avLst>
          </a:prstGeom>
          <a:solidFill>
            <a:schemeClr val="accent1"/>
          </a:solidFill>
          <a:ln/>
        </p:spPr>
        <p:txBody>
          <a:bodyPr wrap="square" lIns="0" tIns="0" rIns="0" bIns="0" rtlCol="0" anchor="ctr"/>
          <a:lstStyle/>
          <a:p>
            <a:pPr algn="ctr" indent="0" marL="0">
              <a:buNone/>
            </a:pPr>
            <a:r>
              <a:rPr lang="en-US" sz="1200" b="1" dirty="0">
                <a:solidFill>
                  <a:schemeClr val="bg1"/>
                </a:solidFill>
              </a:rPr>
              <a:t>Check News</a:t>
            </a:r>
            <a:endParaRPr lang="en-US" sz="1200" dirty="0"/>
          </a:p>
        </p:txBody>
      </p:sp>
      <p:sp>
        <p:nvSpPr>
          <p:cNvPr id="16" name="Result banner"/>
          <p:cNvSpPr/>
          <p:nvPr/>
        </p:nvSpPr>
        <p:spPr>
          <a:xfrm>
            <a:off x="4663440" y="3474720"/>
            <a:ext cx="3840480" cy="411480"/>
          </a:xfrm>
          <a:prstGeom prst="rect">
            <a:avLst/>
          </a:prstGeom>
          <a:solidFill>
            <a:schemeClr val="accent1">
              <a:alpha val="15000"/>
            </a:schemeClr>
          </a:solidFill>
          <a:ln/>
        </p:spPr>
      </p:sp>
      <p:sp>
        <p:nvSpPr>
          <p:cNvPr id="17" name="Text 15"/>
          <p:cNvSpPr txBox="1"/>
          <p:nvPr/>
        </p:nvSpPr>
        <p:spPr>
          <a:xfrm>
            <a:off x="4800600" y="3474720"/>
            <a:ext cx="3657600" cy="411480"/>
          </a:xfrm>
          <a:prstGeom prst="rect">
            <a:avLst/>
          </a:prstGeom>
          <a:noFill/>
          <a:ln/>
        </p:spPr>
        <p:txBody>
          <a:bodyPr wrap="square" lIns="0" tIns="0" rIns="0" bIns="0" rtlCol="0" anchor="ctr"/>
          <a:lstStyle/>
          <a:p>
            <a:pPr indent="0" marL="0">
              <a:buNone/>
            </a:pPr>
            <a:r>
              <a:rPr lang="en-US" sz="1400" b="1" dirty="0">
                <a:solidFill>
                  <a:schemeClr val="accent1"/>
                </a:solidFill>
              </a:rPr>
              <a:t>This news looks FAKE</a:t>
            </a:r>
            <a:endParaRPr lang="en-US" sz="1400" dirty="0"/>
          </a:p>
        </p:txBody>
      </p:sp>
      <p:sp>
        <p:nvSpPr>
          <p:cNvPr id="18" name="Text 16"/>
          <p:cNvSpPr txBox="1"/>
          <p:nvPr/>
        </p:nvSpPr>
        <p:spPr>
          <a:xfrm>
            <a:off x="4663440" y="3977640"/>
            <a:ext cx="3840480" cy="228600"/>
          </a:xfrm>
          <a:prstGeom prst="rect">
            <a:avLst/>
          </a:prstGeom>
          <a:noFill/>
          <a:ln/>
        </p:spPr>
        <p:txBody>
          <a:bodyPr wrap="square" lIns="0" tIns="0" rIns="0" bIns="0" rtlCol="0" anchor="ctr"/>
          <a:lstStyle/>
          <a:p>
            <a:pPr indent="0" marL="0">
              <a:buNone/>
            </a:pPr>
            <a:r>
              <a:rPr lang="en-US" sz="1100" dirty="0">
                <a:solidFill>
                  <a:schemeClr val="tx2"/>
                </a:solidFill>
              </a:rPr>
              <a:t>Confidence: 92.9%</a:t>
            </a:r>
            <a:endParaRPr lang="en-US" sz="1100" dirty="0"/>
          </a:p>
        </p:txBody>
      </p:sp>
      <p:sp>
        <p:nvSpPr>
          <p:cNvPr id="19" name="Confidence track"/>
          <p:cNvSpPr/>
          <p:nvPr/>
        </p:nvSpPr>
        <p:spPr>
          <a:xfrm>
            <a:off x="4663440" y="4251960"/>
            <a:ext cx="3840480" cy="109728"/>
          </a:xfrm>
          <a:prstGeom prst="rect">
            <a:avLst/>
          </a:prstGeom>
          <a:solidFill>
            <a:schemeClr val="bg2"/>
          </a:solidFill>
          <a:ln/>
        </p:spPr>
      </p:sp>
      <p:sp>
        <p:nvSpPr>
          <p:cNvPr id="20" name="Confidence fill"/>
          <p:cNvSpPr/>
          <p:nvPr/>
        </p:nvSpPr>
        <p:spPr>
          <a:xfrm>
            <a:off x="4663440" y="4251960"/>
            <a:ext cx="3567806" cy="109728"/>
          </a:xfrm>
          <a:prstGeom prst="rect">
            <a:avLst/>
          </a:prstGeom>
          <a:solidFill>
            <a:schemeClr val="accent1"/>
          </a:solidFill>
          <a:ln/>
        </p:spPr>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rPr>
              <a:t>Limitations &amp; Future Scope</a:t>
            </a:r>
            <a:endParaRPr lang="en-US" sz="3200" dirty="0"/>
          </a:p>
        </p:txBody>
      </p:sp>
      <p:sp>
        <p:nvSpPr>
          <p:cNvPr id="3" name="Limitations card"/>
          <p:cNvSpPr/>
          <p:nvPr/>
        </p:nvSpPr>
        <p:spPr>
          <a:xfrm>
            <a:off x="457200" y="1143000"/>
            <a:ext cx="3977640" cy="301752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4" name="Limitations circle"/>
          <p:cNvSpPr/>
          <p:nvPr/>
        </p:nvSpPr>
        <p:spPr>
          <a:xfrm>
            <a:off x="685800" y="1325880"/>
            <a:ext cx="548640" cy="548640"/>
          </a:xfrm>
          <a:prstGeom prst="ellipse">
            <a:avLst/>
          </a:prstGeom>
          <a:solidFill>
            <a:schemeClr val="accent1"/>
          </a:solidFill>
          <a:ln/>
        </p:spPr>
      </p:sp>
      <p:pic>
        <p:nvPicPr>
          <p:cNvPr id="5" name="Limitations icon" descr="Limitations">    </p:cNvPr>
          <p:cNvPicPr>
            <a:picLocks noChangeAspect="1"/>
          </p:cNvPicPr>
          <p:nvPr/>
        </p:nvPicPr>
        <p:blipFill>
          <a:blip r:embed="rId1"/>
          <a:stretch>
            <a:fillRect/>
          </a:stretch>
        </p:blipFill>
        <p:spPr>
          <a:xfrm>
            <a:off x="822960" y="1463040"/>
            <a:ext cx="274320" cy="274320"/>
          </a:xfrm>
          <a:prstGeom prst="rect">
            <a:avLst/>
          </a:prstGeom>
        </p:spPr>
      </p:pic>
      <p:sp>
        <p:nvSpPr>
          <p:cNvPr id="6" name="Text 3"/>
          <p:cNvSpPr txBox="1"/>
          <p:nvPr/>
        </p:nvSpPr>
        <p:spPr>
          <a:xfrm>
            <a:off x="1371600" y="1325880"/>
            <a:ext cx="2834640" cy="548640"/>
          </a:xfrm>
          <a:prstGeom prst="rect">
            <a:avLst/>
          </a:prstGeom>
          <a:noFill/>
          <a:ln/>
        </p:spPr>
        <p:txBody>
          <a:bodyPr wrap="square" lIns="0" tIns="0" rIns="0" bIns="0" rtlCol="0" anchor="ctr"/>
          <a:lstStyle/>
          <a:p>
            <a:pPr indent="0" marL="0">
              <a:buNone/>
            </a:pPr>
            <a:r>
              <a:rPr lang="en-US" sz="2000" b="1" dirty="0">
                <a:solidFill>
                  <a:schemeClr val="tx1"/>
                </a:solidFill>
              </a:rPr>
              <a:t>Limitations</a:t>
            </a:r>
            <a:endParaRPr lang="en-US" sz="2000" dirty="0"/>
          </a:p>
        </p:txBody>
      </p:sp>
      <p:sp>
        <p:nvSpPr>
          <p:cNvPr id="7" name="Text 4"/>
          <p:cNvSpPr txBox="1"/>
          <p:nvPr/>
        </p:nvSpPr>
        <p:spPr>
          <a:xfrm>
            <a:off x="685800" y="2103120"/>
            <a:ext cx="3566160" cy="192024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Learns writing style, not real facts</a:t>
            </a:r>
            <a:endParaRPr lang="en-US" sz="1600" dirty="0"/>
          </a:p>
          <a:p>
            <a:pPr marL="228600" indent="-228600">
              <a:spcAft>
                <a:spcPts val="1000"/>
              </a:spcAft>
              <a:buSzPct val="100000"/>
              <a:buChar char="•"/>
            </a:pPr>
            <a:r>
              <a:rPr lang="en-US" sz="1600" dirty="0">
                <a:solidFill>
                  <a:schemeClr val="tx1"/>
                </a:solidFill>
              </a:rPr>
              <a:t>Works best on news similar to the training data</a:t>
            </a:r>
            <a:endParaRPr lang="en-US" sz="1600" dirty="0"/>
          </a:p>
          <a:p>
            <a:pPr marL="228600" indent="-228600">
              <a:spcAft>
                <a:spcPts val="1000"/>
              </a:spcAft>
              <a:buSzPct val="100000"/>
              <a:buChar char="•"/>
            </a:pPr>
            <a:r>
              <a:rPr lang="en-US" sz="1600" dirty="0">
                <a:solidFill>
                  <a:schemeClr val="tx1"/>
                </a:solidFill>
              </a:rPr>
              <a:t>English text only</a:t>
            </a:r>
            <a:endParaRPr lang="en-US" sz="1600" dirty="0"/>
          </a:p>
          <a:p>
            <a:pPr marL="228600" indent="-228600">
              <a:spcAft>
                <a:spcPts val="1000"/>
              </a:spcAft>
              <a:buSzPct val="100000"/>
              <a:buChar char="•"/>
            </a:pPr>
            <a:r>
              <a:rPr lang="en-US" sz="1600" dirty="0">
                <a:solidFill>
                  <a:schemeClr val="tx1"/>
                </a:solidFill>
              </a:rPr>
              <a:t>Carefully written fake news can fool it</a:t>
            </a:r>
            <a:endParaRPr lang="en-US" sz="1600" dirty="0"/>
          </a:p>
        </p:txBody>
      </p:sp>
      <p:sp>
        <p:nvSpPr>
          <p:cNvPr id="8" name="Future Scope card"/>
          <p:cNvSpPr/>
          <p:nvPr/>
        </p:nvSpPr>
        <p:spPr>
          <a:xfrm>
            <a:off x="4709160" y="1143000"/>
            <a:ext cx="3977640" cy="3017520"/>
          </a:xfrm>
          <a:prstGeom prst="rect">
            <a:avLst/>
          </a:prstGeom>
          <a:solidFill>
            <a:schemeClr val="bg2"/>
          </a:solidFill>
          <a:ln/>
          <a:effectLst>
            <a:outerShdw sx="100000" sy="100000" kx="0" ky="0" algn="bl" rotWithShape="0" blurRad="76200" dist="25400" dir="5400000">
              <a:srgbClr val="000000">
                <a:alpha val="12000"/>
              </a:srgbClr>
            </a:outerShdw>
          </a:effectLst>
        </p:spPr>
      </p:sp>
      <p:sp>
        <p:nvSpPr>
          <p:cNvPr id="9" name="Future Scope circle"/>
          <p:cNvSpPr/>
          <p:nvPr/>
        </p:nvSpPr>
        <p:spPr>
          <a:xfrm>
            <a:off x="4937760" y="1325880"/>
            <a:ext cx="548640" cy="548640"/>
          </a:xfrm>
          <a:prstGeom prst="ellipse">
            <a:avLst/>
          </a:prstGeom>
          <a:solidFill>
            <a:schemeClr val="accent2"/>
          </a:solidFill>
          <a:ln/>
        </p:spPr>
      </p:sp>
      <p:pic>
        <p:nvPicPr>
          <p:cNvPr id="10" name="Future Scope icon" descr="Future Scope">    </p:cNvPr>
          <p:cNvPicPr>
            <a:picLocks noChangeAspect="1"/>
          </p:cNvPicPr>
          <p:nvPr/>
        </p:nvPicPr>
        <p:blipFill>
          <a:blip r:embed="rId2"/>
          <a:stretch>
            <a:fillRect/>
          </a:stretch>
        </p:blipFill>
        <p:spPr>
          <a:xfrm>
            <a:off x="5074920" y="1463040"/>
            <a:ext cx="274320" cy="274320"/>
          </a:xfrm>
          <a:prstGeom prst="rect">
            <a:avLst/>
          </a:prstGeom>
        </p:spPr>
      </p:pic>
      <p:sp>
        <p:nvSpPr>
          <p:cNvPr id="11" name="Text 7"/>
          <p:cNvSpPr txBox="1"/>
          <p:nvPr/>
        </p:nvSpPr>
        <p:spPr>
          <a:xfrm>
            <a:off x="5623560" y="1325880"/>
            <a:ext cx="2834640" cy="548640"/>
          </a:xfrm>
          <a:prstGeom prst="rect">
            <a:avLst/>
          </a:prstGeom>
          <a:noFill/>
          <a:ln/>
        </p:spPr>
        <p:txBody>
          <a:bodyPr wrap="square" lIns="0" tIns="0" rIns="0" bIns="0" rtlCol="0" anchor="ctr"/>
          <a:lstStyle/>
          <a:p>
            <a:pPr indent="0" marL="0">
              <a:buNone/>
            </a:pPr>
            <a:r>
              <a:rPr lang="en-US" sz="2000" b="1" dirty="0">
                <a:solidFill>
                  <a:schemeClr val="tx1"/>
                </a:solidFill>
              </a:rPr>
              <a:t>Future Scope</a:t>
            </a:r>
            <a:endParaRPr lang="en-US" sz="2000" dirty="0"/>
          </a:p>
        </p:txBody>
      </p:sp>
      <p:sp>
        <p:nvSpPr>
          <p:cNvPr id="12" name="Text 8"/>
          <p:cNvSpPr txBox="1"/>
          <p:nvPr/>
        </p:nvSpPr>
        <p:spPr>
          <a:xfrm>
            <a:off x="4937760" y="2103120"/>
            <a:ext cx="3566160" cy="192024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Deep learning models (LSTM, BERT)</a:t>
            </a:r>
            <a:endParaRPr lang="en-US" sz="1600" dirty="0"/>
          </a:p>
          <a:p>
            <a:pPr marL="228600" indent="-228600">
              <a:spcAft>
                <a:spcPts val="1000"/>
              </a:spcAft>
              <a:buSzPct val="100000"/>
              <a:buChar char="•"/>
            </a:pPr>
            <a:r>
              <a:rPr lang="en-US" sz="1600" dirty="0">
                <a:solidFill>
                  <a:schemeClr val="tx1"/>
                </a:solidFill>
              </a:rPr>
              <a:t>Fact-checking against trusted sources</a:t>
            </a:r>
            <a:endParaRPr lang="en-US" sz="1600" dirty="0"/>
          </a:p>
          <a:p>
            <a:pPr marL="228600" indent="-228600">
              <a:spcAft>
                <a:spcPts val="1000"/>
              </a:spcAft>
              <a:buSzPct val="100000"/>
              <a:buChar char="•"/>
            </a:pPr>
            <a:r>
              <a:rPr lang="en-US" sz="1600" dirty="0">
                <a:solidFill>
                  <a:schemeClr val="tx1"/>
                </a:solidFill>
              </a:rPr>
              <a:t>Support for Hindi and other languages</a:t>
            </a:r>
            <a:endParaRPr lang="en-US" sz="1600" dirty="0"/>
          </a:p>
          <a:p>
            <a:pPr marL="228600" indent="-228600">
              <a:spcAft>
                <a:spcPts val="1000"/>
              </a:spcAft>
              <a:buSzPct val="100000"/>
              <a:buChar char="•"/>
            </a:pPr>
            <a:r>
              <a:rPr lang="en-US" sz="1600" dirty="0">
                <a:solidFill>
                  <a:schemeClr val="tx1"/>
                </a:solidFill>
              </a:rPr>
              <a:t>Browser extension for live checking</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56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31520"/>
          </a:xfrm>
          <a:prstGeom prst="rect">
            <a:avLst/>
          </a:prstGeom>
          <a:noFill/>
          <a:ln/>
        </p:spPr>
        <p:txBody>
          <a:bodyPr wrap="square" lIns="0" tIns="0" rIns="0" bIns="0" rtlCol="0" anchor="ctr"/>
          <a:lstStyle/>
          <a:p>
            <a:pPr algn="l" indent="0" marL="0">
              <a:buNone/>
            </a:pPr>
            <a:r>
              <a:rPr lang="en-US" sz="3600" b="1" dirty="0">
                <a:solidFill>
                  <a:schemeClr val="bg1"/>
                </a:solidFill>
              </a:rPr>
              <a:t>Conclusion</a:t>
            </a:r>
            <a:endParaRPr lang="en-US" sz="3600" dirty="0"/>
          </a:p>
        </p:txBody>
      </p:sp>
      <p:sp>
        <p:nvSpPr>
          <p:cNvPr id="3" name="Point 1 circle"/>
          <p:cNvSpPr/>
          <p:nvPr/>
        </p:nvSpPr>
        <p:spPr>
          <a:xfrm>
            <a:off x="548640" y="1408176"/>
            <a:ext cx="411480" cy="411480"/>
          </a:xfrm>
          <a:prstGeom prst="ellipse">
            <a:avLst/>
          </a:prstGeom>
          <a:solidFill>
            <a:schemeClr val="accent2"/>
          </a:solidFill>
          <a:ln/>
        </p:spPr>
      </p:sp>
      <p:pic>
        <p:nvPicPr>
          <p:cNvPr id="4" name="Point 1 icon" descr="Point 1">    </p:cNvPr>
          <p:cNvPicPr>
            <a:picLocks noChangeAspect="1"/>
          </p:cNvPicPr>
          <p:nvPr/>
        </p:nvPicPr>
        <p:blipFill>
          <a:blip r:embed="rId1"/>
          <a:stretch>
            <a:fillRect/>
          </a:stretch>
        </p:blipFill>
        <p:spPr>
          <a:xfrm>
            <a:off x="651510" y="1511046"/>
            <a:ext cx="205740" cy="205740"/>
          </a:xfrm>
          <a:prstGeom prst="rect">
            <a:avLst/>
          </a:prstGeom>
        </p:spPr>
      </p:pic>
      <p:sp>
        <p:nvSpPr>
          <p:cNvPr id="5" name="Text 2"/>
          <p:cNvSpPr txBox="1"/>
          <p:nvPr/>
        </p:nvSpPr>
        <p:spPr>
          <a:xfrm>
            <a:off x="1143000" y="1371600"/>
            <a:ext cx="7498080" cy="502920"/>
          </a:xfrm>
          <a:prstGeom prst="rect">
            <a:avLst/>
          </a:prstGeom>
          <a:noFill/>
          <a:ln/>
        </p:spPr>
        <p:txBody>
          <a:bodyPr wrap="square" lIns="0" tIns="0" rIns="0" bIns="0" rtlCol="0" anchor="ctr"/>
          <a:lstStyle/>
          <a:p>
            <a:pPr indent="0" marL="0">
              <a:buNone/>
            </a:pPr>
            <a:r>
              <a:rPr lang="en-US" sz="1800" dirty="0">
                <a:solidFill>
                  <a:schemeClr val="bg1"/>
                </a:solidFill>
              </a:rPr>
              <a:t>Built an end-to-end ML system that labels news as REAL or FAKE</a:t>
            </a:r>
            <a:endParaRPr lang="en-US" sz="1800" dirty="0"/>
          </a:p>
        </p:txBody>
      </p:sp>
      <p:sp>
        <p:nvSpPr>
          <p:cNvPr id="6" name="Point 2 circle"/>
          <p:cNvSpPr/>
          <p:nvPr/>
        </p:nvSpPr>
        <p:spPr>
          <a:xfrm>
            <a:off x="548640" y="2066544"/>
            <a:ext cx="411480" cy="411480"/>
          </a:xfrm>
          <a:prstGeom prst="ellipse">
            <a:avLst/>
          </a:prstGeom>
          <a:solidFill>
            <a:schemeClr val="accent2"/>
          </a:solidFill>
          <a:ln/>
        </p:spPr>
      </p:sp>
      <p:pic>
        <p:nvPicPr>
          <p:cNvPr id="7" name="Point 2 icon" descr="Point 2">    </p:cNvPr>
          <p:cNvPicPr>
            <a:picLocks noChangeAspect="1"/>
          </p:cNvPicPr>
          <p:nvPr/>
        </p:nvPicPr>
        <p:blipFill>
          <a:blip r:embed="rId2"/>
          <a:stretch>
            <a:fillRect/>
          </a:stretch>
        </p:blipFill>
        <p:spPr>
          <a:xfrm>
            <a:off x="651510" y="2169414"/>
            <a:ext cx="205740" cy="205740"/>
          </a:xfrm>
          <a:prstGeom prst="rect">
            <a:avLst/>
          </a:prstGeom>
        </p:spPr>
      </p:pic>
      <p:sp>
        <p:nvSpPr>
          <p:cNvPr id="8" name="Text 4"/>
          <p:cNvSpPr txBox="1"/>
          <p:nvPr/>
        </p:nvSpPr>
        <p:spPr>
          <a:xfrm>
            <a:off x="1143000" y="2029968"/>
            <a:ext cx="7498080" cy="502920"/>
          </a:xfrm>
          <a:prstGeom prst="rect">
            <a:avLst/>
          </a:prstGeom>
          <a:noFill/>
          <a:ln/>
        </p:spPr>
        <p:txBody>
          <a:bodyPr wrap="square" lIns="0" tIns="0" rIns="0" bIns="0" rtlCol="0" anchor="ctr"/>
          <a:lstStyle/>
          <a:p>
            <a:pPr indent="0" marL="0">
              <a:buNone/>
            </a:pPr>
            <a:r>
              <a:rPr lang="en-US" sz="1800" dirty="0">
                <a:solidFill>
                  <a:schemeClr val="bg1"/>
                </a:solidFill>
              </a:rPr>
              <a:t>Used TF-IDF features, 5 models, GridSearchCV and 5-fold cross-validation</a:t>
            </a:r>
            <a:endParaRPr lang="en-US" sz="1800" dirty="0"/>
          </a:p>
        </p:txBody>
      </p:sp>
      <p:sp>
        <p:nvSpPr>
          <p:cNvPr id="9" name="Point 3 circle"/>
          <p:cNvSpPr/>
          <p:nvPr/>
        </p:nvSpPr>
        <p:spPr>
          <a:xfrm>
            <a:off x="548640" y="2724912"/>
            <a:ext cx="411480" cy="411480"/>
          </a:xfrm>
          <a:prstGeom prst="ellipse">
            <a:avLst/>
          </a:prstGeom>
          <a:solidFill>
            <a:schemeClr val="accent2"/>
          </a:solidFill>
          <a:ln/>
        </p:spPr>
      </p:sp>
      <p:pic>
        <p:nvPicPr>
          <p:cNvPr id="10" name="Point 3 icon" descr="Point 3">    </p:cNvPr>
          <p:cNvPicPr>
            <a:picLocks noChangeAspect="1"/>
          </p:cNvPicPr>
          <p:nvPr/>
        </p:nvPicPr>
        <p:blipFill>
          <a:blip r:embed="rId3"/>
          <a:stretch>
            <a:fillRect/>
          </a:stretch>
        </p:blipFill>
        <p:spPr>
          <a:xfrm>
            <a:off x="651510" y="2827782"/>
            <a:ext cx="205740" cy="205740"/>
          </a:xfrm>
          <a:prstGeom prst="rect">
            <a:avLst/>
          </a:prstGeom>
        </p:spPr>
      </p:pic>
      <p:sp>
        <p:nvSpPr>
          <p:cNvPr id="11" name="Text 6"/>
          <p:cNvSpPr txBox="1"/>
          <p:nvPr/>
        </p:nvSpPr>
        <p:spPr>
          <a:xfrm>
            <a:off x="1143000" y="2688336"/>
            <a:ext cx="7498080" cy="502920"/>
          </a:xfrm>
          <a:prstGeom prst="rect">
            <a:avLst/>
          </a:prstGeom>
          <a:noFill/>
          <a:ln/>
        </p:spPr>
        <p:txBody>
          <a:bodyPr wrap="square" lIns="0" tIns="0" rIns="0" bIns="0" rtlCol="0" anchor="ctr"/>
          <a:lstStyle/>
          <a:p>
            <a:pPr indent="0" marL="0">
              <a:buNone/>
            </a:pPr>
            <a:r>
              <a:rPr lang="en-US" sz="1800" dirty="0">
                <a:solidFill>
                  <a:schemeClr val="bg1"/>
                </a:solidFill>
              </a:rPr>
              <a:t>Deployed the best model in a simple Streamlit web app</a:t>
            </a:r>
            <a:endParaRPr lang="en-US" sz="1800" dirty="0"/>
          </a:p>
        </p:txBody>
      </p:sp>
      <p:sp>
        <p:nvSpPr>
          <p:cNvPr id="12" name="Text 7"/>
          <p:cNvSpPr txBox="1"/>
          <p:nvPr/>
        </p:nvSpPr>
        <p:spPr>
          <a:xfrm>
            <a:off x="548640" y="3749040"/>
            <a:ext cx="5486400" cy="64008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Thank You!  Questions?</a:t>
            </a:r>
            <a:endParaRPr lang="en-US" sz="3000" dirty="0"/>
          </a:p>
        </p:txBody>
      </p:sp>
      <p:sp>
        <p:nvSpPr>
          <p:cNvPr id="13" name="REAL stamp"/>
          <p:cNvSpPr txBox="1"/>
          <p:nvPr/>
        </p:nvSpPr>
        <p:spPr>
          <a:xfrm>
            <a:off x="6446520" y="3886200"/>
            <a:ext cx="960120" cy="384048"/>
          </a:xfrm>
          <a:prstGeom prst="roundRect">
            <a:avLst>
              <a:gd name="adj" fmla="val 19048"/>
            </a:avLst>
          </a:prstGeom>
          <a:ln w="28575">
            <a:solidFill>
              <a:srgbClr val="2E8B57"/>
            </a:solidFill>
          </a:ln>
        </p:spPr>
        <p:txBody>
          <a:bodyPr wrap="square" lIns="0" tIns="0" rIns="0" bIns="0" rtlCol="0" anchor="ctr"/>
          <a:lstStyle/>
          <a:p>
            <a:pPr algn="ctr" indent="0" marL="0">
              <a:buNone/>
            </a:pPr>
            <a:r>
              <a:rPr lang="en-US" sz="1500" b="1" spc="400" kern="0" dirty="0">
                <a:solidFill>
                  <a:srgbClr val="2E8B57"/>
                </a:solidFill>
              </a:rPr>
              <a:t>REAL</a:t>
            </a:r>
            <a:endParaRPr lang="en-US" sz="1500" dirty="0"/>
          </a:p>
        </p:txBody>
      </p:sp>
      <p:sp>
        <p:nvSpPr>
          <p:cNvPr id="14" name="FAKE stamp"/>
          <p:cNvSpPr txBox="1"/>
          <p:nvPr/>
        </p:nvSpPr>
        <p:spPr>
          <a:xfrm rot="-360000">
            <a:off x="7589520" y="3886200"/>
            <a:ext cx="960120" cy="384048"/>
          </a:xfrm>
          <a:prstGeom prst="roundRect">
            <a:avLst>
              <a:gd name="adj" fmla="val 19048"/>
            </a:avLst>
          </a:prstGeom>
          <a:ln w="28575">
            <a:solidFill>
              <a:srgbClr val="C0392B"/>
            </a:solidFill>
          </a:ln>
        </p:spPr>
        <p:txBody>
          <a:bodyPr wrap="square" lIns="0" tIns="0" rIns="0" bIns="0" rtlCol="0" anchor="ctr"/>
          <a:lstStyle/>
          <a:p>
            <a:pPr algn="ctr" indent="0" marL="0">
              <a:buNone/>
            </a:pPr>
            <a:r>
              <a:rPr lang="en-US" sz="1500" b="1" spc="400" kern="0" dirty="0">
                <a:solidFill>
                  <a:srgbClr val="C0392B"/>
                </a:solidFill>
              </a:rPr>
              <a:t>FAKE</a:t>
            </a:r>
            <a:endParaRPr lang="en-US" sz="1500" dirty="0"/>
          </a:p>
        </p:txBody>
      </p:sp>
    </p:spTree>
  </p:cSld>
  <p:clrMapOvr>
    <a:masterClrMapping/>
  </p:clrMapOvr>
</p:sld>
</file>

<file path=ppt/theme/theme1.xml><?xml version="1.0" encoding="utf-8"?>
<a:theme xmlns:a="http://schemas.openxmlformats.org/drawingml/2006/main" name="Newsprint">
  <a:themeElements>
    <a:clrScheme name="Newsprint">
      <a:dk1>
        <a:srgbClr val="1B1F24"/>
      </a:dk1>
      <a:lt1>
        <a:srgbClr val="FFFFFF"/>
      </a:lt1>
      <a:dk2>
        <a:srgbClr val="4A5560"/>
      </a:dk2>
      <a:lt2>
        <a:srgbClr val="F1F3F5"/>
      </a:lt2>
      <a:accent1>
        <a:srgbClr val="C0392B"/>
      </a:accent1>
      <a:accent2>
        <a:srgbClr val="2E8B57"/>
      </a:accent2>
      <a:accent3>
        <a:srgbClr val="1F4E79"/>
      </a:accent3>
      <a:accent4>
        <a:srgbClr val="E0A800"/>
      </a:accent4>
      <a:accent5>
        <a:srgbClr val="9AA5B1"/>
      </a:accent5>
      <a:accent6>
        <a:srgbClr val="8E44AD"/>
      </a:accent6>
      <a:hlink>
        <a:srgbClr val="1F4E79"/>
      </a:hlink>
      <a:folHlink>
        <a:srgbClr val="7F8C8D"/>
      </a:folHlink>
    </a:clrScheme>
    <a:fontScheme name="Newspri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Fake News Detection using Machine Learning</dc:title>
  <dc:subject>PptxGenJS Presentation</dc:subject>
  <dc:creator>PptxGenJS</dc:creator>
  <cp:lastModifiedBy>PptxGenJS</cp:lastModifiedBy>
  <cp:revision>1</cp:revision>
  <dcterms:created xsi:type="dcterms:W3CDTF">2026-10-13T18:48:00Z</dcterms:created>
  <dcterms:modified xsi:type="dcterms:W3CDTF">2026-10-13T18:48:00Z</dcterms:modified>
</cp:coreProperties>
</file>